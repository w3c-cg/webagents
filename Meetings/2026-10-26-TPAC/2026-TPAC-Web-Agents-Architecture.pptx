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7"/>
  </p:notesMasterIdLst>
  <p:sldIdLst>
    <p:sldId id="256" r:id="rId2"/>
    <p:sldId id="279" r:id="rId3"/>
    <p:sldId id="4430" r:id="rId4"/>
    <p:sldId id="4371" r:id="rId5"/>
    <p:sldId id="4388" r:id="rId6"/>
    <p:sldId id="4372" r:id="rId7"/>
    <p:sldId id="4386" r:id="rId8"/>
    <p:sldId id="4392" r:id="rId9"/>
    <p:sldId id="4414" r:id="rId10"/>
    <p:sldId id="257" r:id="rId11"/>
    <p:sldId id="258" r:id="rId12"/>
    <p:sldId id="4421" r:id="rId13"/>
    <p:sldId id="4415" r:id="rId14"/>
    <p:sldId id="4433" r:id="rId15"/>
    <p:sldId id="268" r:id="rId16"/>
    <p:sldId id="271" r:id="rId17"/>
    <p:sldId id="4432" r:id="rId18"/>
    <p:sldId id="274" r:id="rId19"/>
    <p:sldId id="4418" r:id="rId20"/>
    <p:sldId id="4425" r:id="rId21"/>
    <p:sldId id="4426" r:id="rId22"/>
    <p:sldId id="4419" r:id="rId23"/>
    <p:sldId id="4390" r:id="rId24"/>
    <p:sldId id="4428" r:id="rId25"/>
    <p:sldId id="4435" r:id="rId26"/>
  </p:sldIdLst>
  <p:sldSz cx="12192000" cy="6858000"/>
  <p:notesSz cx="6858000" cy="9144000"/>
  <p:defaultTextStyle>
    <a:defPPr>
      <a:buNone/>
    </a:defPPr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  <p:extLst>
    <p:ext uri="{521415D9-36F7-43E2-AB2F-B90AF26B5E84}">
      <p14:sectionLst xmlns:p14="http://schemas.microsoft.com/office/powerpoint/2010/main">
        <p14:section name="Context and design goals" id="{F0934CD6-2C7F-488D-A362-F9CDEA752A39}">
          <p14:sldIdLst>
            <p14:sldId id="256"/>
            <p14:sldId id="279"/>
            <p14:sldId id="4430"/>
            <p14:sldId id="4371"/>
            <p14:sldId id="4388"/>
            <p14:sldId id="4372"/>
            <p14:sldId id="4386"/>
            <p14:sldId id="4392"/>
            <p14:sldId id="4414"/>
          </p14:sldIdLst>
        </p14:section>
        <p14:section name="MCP and A2A scenario" id="{5F8D3BCA-51CB-43E2-AB75-2A0EC7D0B9F0}">
          <p14:sldIdLst>
            <p14:sldId id="257"/>
            <p14:sldId id="258"/>
            <p14:sldId id="4421"/>
            <p14:sldId id="4415"/>
          </p14:sldIdLst>
        </p14:section>
        <p14:section name="Web and hypermedia scenario" id="{09483CF0-CE59-4DB6-8FD2-F17D55BAC1FF}">
          <p14:sldIdLst>
            <p14:sldId id="4433"/>
            <p14:sldId id="268"/>
            <p14:sldId id="271"/>
            <p14:sldId id="4432"/>
            <p14:sldId id="274"/>
            <p14:sldId id="4418"/>
            <p14:sldId id="4425"/>
            <p14:sldId id="4426"/>
          </p14:sldIdLst>
        </p14:section>
        <p14:section name="Assessment" id="{A0B2B863-E1CF-4480-B34D-325A62A35E61}">
          <p14:sldIdLst>
            <p14:sldId id="4419"/>
            <p14:sldId id="4390"/>
            <p14:sldId id="4428"/>
            <p14:sldId id="443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395"/>
    <p:restoredTop sz="63508"/>
  </p:normalViewPr>
  <p:slideViewPr>
    <p:cSldViewPr snapToGrid="0">
      <p:cViewPr varScale="1">
        <p:scale>
          <a:sx n="75" d="100"/>
          <a:sy n="75" d="100"/>
        </p:scale>
        <p:origin x="20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4AE39-6537-D397-8AC5-3B4BC3D966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>
            <a:extLst>
              <a:ext uri="{FF2B5EF4-FFF2-40B4-BE49-F238E27FC236}">
                <a16:creationId xmlns:a16="http://schemas.microsoft.com/office/drawing/2014/main" id="{013D0E51-7653-6A9A-D584-DAB2DD05FE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082222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17225267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951B7-0039-E8DE-26C7-EFEAFC6A7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>
            <a:extLst>
              <a:ext uri="{FF2B5EF4-FFF2-40B4-BE49-F238E27FC236}">
                <a16:creationId xmlns:a16="http://schemas.microsoft.com/office/drawing/2014/main" id="{85238CC4-0CD9-6BF3-33FF-3CA7FE22E4F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43491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01 Cover — title and auth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8C5CCC9-2BA0-498B-B004-C5C5AF711B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ceholder_1">
            <a:extLst>
              <a:ext uri="{FF2B5EF4-FFF2-40B4-BE49-F238E27FC236}">
                <a16:creationId xmlns:a16="http://schemas.microsoft.com/office/drawing/2014/main" id="{2E0B2FAC-5C81-4A4B-9EFF-D2E3CC59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704850"/>
            <a:ext cx="1123950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4226" b="1">
                <a:solidFill>
                  <a:schemeClr val="accent3"/>
                </a:solidFill>
              </a:defRPr>
            </a:defPPr>
            <a:lvl1pPr algn="ctr">
              <a:defRPr sz="4226" b="1">
                <a:solidFill>
                  <a:schemeClr val="accent3"/>
                </a:solidFill>
              </a:defRPr>
            </a:lvl1pPr>
            <a:lvl2pPr algn="ctr">
              <a:defRPr sz="4226" b="1">
                <a:solidFill>
                  <a:schemeClr val="accent3"/>
                </a:solidFill>
              </a:defRPr>
            </a:lvl2pPr>
            <a:lvl3pPr algn="ctr">
              <a:defRPr sz="4226" b="1">
                <a:solidFill>
                  <a:schemeClr val="accent3"/>
                </a:solidFill>
              </a:defRPr>
            </a:lvl3pPr>
            <a:lvl4pPr algn="ctr">
              <a:defRPr sz="4226" b="1">
                <a:solidFill>
                  <a:schemeClr val="accent3"/>
                </a:solidFill>
              </a:defRPr>
            </a:lvl4pPr>
            <a:lvl5pPr algn="ctr">
              <a:defRPr sz="4226" b="1">
                <a:solidFill>
                  <a:schemeClr val="accent3"/>
                </a:solidFill>
              </a:defRPr>
            </a:lvl5pPr>
            <a:lvl6pPr algn="ctr">
              <a:defRPr sz="4226" b="1">
                <a:solidFill>
                  <a:schemeClr val="accent3"/>
                </a:solidFill>
              </a:defRPr>
            </a:lvl6pPr>
            <a:lvl7pPr algn="ctr">
              <a:defRPr sz="4226" b="1">
                <a:solidFill>
                  <a:schemeClr val="accent3"/>
                </a:solidFill>
              </a:defRPr>
            </a:lvl7pPr>
            <a:lvl8pPr algn="ctr">
              <a:defRPr sz="4226" b="1">
                <a:solidFill>
                  <a:schemeClr val="accent3"/>
                </a:solidFill>
              </a:defRPr>
            </a:lvl8pPr>
            <a:lvl9pPr algn="ctr">
              <a:defRPr sz="4226" b="1">
                <a:solidFill>
                  <a:schemeClr val="accent3"/>
                </a:solidFill>
              </a:defRPr>
            </a:lvl9pPr>
          </a:lstStyle>
          <a:p>
            <a:pPr algn="ctr">
              <a:defRPr sz="4226" b="1">
                <a:solidFill>
                  <a:schemeClr val="accent3"/>
                </a:solidFill>
              </a:defRPr>
            </a:pPr>
            <a:r>
              <a:rPr sz="4226" b="1">
                <a:solidFill>
                  <a:schemeClr val="accent3"/>
                </a:solidFill>
              </a:rPr>
              <a:t>Click to edit title</a:t>
            </a:r>
          </a:p>
        </p:txBody>
      </p:sp>
      <p:sp>
        <p:nvSpPr>
          <p:cNvPr id="3" name="Author background">
            <a:extLst>
              <a:ext uri="{FF2B5EF4-FFF2-40B4-BE49-F238E27FC236}">
                <a16:creationId xmlns:a16="http://schemas.microsoft.com/office/drawing/2014/main" id="{BBDEC1B8-7B29-43F4-8F5D-B1F33B588C70}"/>
              </a:ext>
            </a:extLst>
          </p:cNvPr>
          <p:cNvSpPr>
            <a:spLocks noGrp="1"/>
          </p:cNvSpPr>
          <p:nvPr/>
        </p:nvSpPr>
        <p:spPr>
          <a:xfrm>
            <a:off x="5362575" y="2705100"/>
            <a:ext cx="6229350" cy="876300"/>
          </a:xfrm>
          <a:prstGeom prst="roundRect">
            <a:avLst>
              <a:gd name="adj" fmla="val 23913"/>
            </a:avLst>
          </a:prstGeom>
          <a:solidFill>
            <a:schemeClr val="accent3"/>
          </a:solidFill>
          <a:ln w="0"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" name="placeholder_2">
            <a:extLst>
              <a:ext uri="{FF2B5EF4-FFF2-40B4-BE49-F238E27FC236}">
                <a16:creationId xmlns:a16="http://schemas.microsoft.com/office/drawing/2014/main" id="{7E7C0DA9-78F0-4A55-8D7F-DC2635B30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0" y="2895600"/>
            <a:ext cx="5334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3285" b="0">
                <a:solidFill>
                  <a:schemeClr val="bg1"/>
                </a:solidFill>
              </a:defRPr>
            </a:defPPr>
            <a:lvl1pPr algn="ctr">
              <a:defRPr sz="3285" b="0">
                <a:solidFill>
                  <a:schemeClr val="bg1"/>
                </a:solidFill>
              </a:defRPr>
            </a:lvl1pPr>
            <a:lvl2pPr algn="ctr">
              <a:defRPr sz="3285" b="0">
                <a:solidFill>
                  <a:schemeClr val="bg1"/>
                </a:solidFill>
              </a:defRPr>
            </a:lvl2pPr>
            <a:lvl3pPr algn="ctr">
              <a:defRPr sz="3285" b="0">
                <a:solidFill>
                  <a:schemeClr val="bg1"/>
                </a:solidFill>
              </a:defRPr>
            </a:lvl3pPr>
            <a:lvl4pPr algn="ctr">
              <a:defRPr sz="3285" b="0">
                <a:solidFill>
                  <a:schemeClr val="bg1"/>
                </a:solidFill>
              </a:defRPr>
            </a:lvl4pPr>
            <a:lvl5pPr algn="ctr">
              <a:defRPr sz="3285" b="0">
                <a:solidFill>
                  <a:schemeClr val="bg1"/>
                </a:solidFill>
              </a:defRPr>
            </a:lvl5pPr>
            <a:lvl6pPr algn="ctr">
              <a:defRPr sz="3285" b="0">
                <a:solidFill>
                  <a:schemeClr val="bg1"/>
                </a:solidFill>
              </a:defRPr>
            </a:lvl6pPr>
            <a:lvl7pPr algn="ctr">
              <a:defRPr sz="3285" b="0">
                <a:solidFill>
                  <a:schemeClr val="bg1"/>
                </a:solidFill>
              </a:defRPr>
            </a:lvl7pPr>
            <a:lvl8pPr algn="ctr">
              <a:defRPr sz="3285" b="0">
                <a:solidFill>
                  <a:schemeClr val="bg1"/>
                </a:solidFill>
              </a:defRPr>
            </a:lvl8pPr>
            <a:lvl9pPr algn="ctr">
              <a:defRPr sz="3285" b="0">
                <a:solidFill>
                  <a:schemeClr val="bg1"/>
                </a:solidFill>
              </a:defRPr>
            </a:lvl9pPr>
          </a:lstStyle>
          <a:p>
            <a:pPr algn="ctr">
              <a:defRPr sz="3285" b="0">
                <a:solidFill>
                  <a:schemeClr val="bg1"/>
                </a:solidFill>
              </a:defRPr>
            </a:pPr>
            <a:r>
              <a:rPr sz="3285" b="0">
                <a:solidFill>
                  <a:schemeClr val="bg1"/>
                </a:solidFill>
              </a:rPr>
              <a:t>Click to edit author</a:t>
            </a:r>
          </a:p>
        </p:txBody>
      </p:sp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2 Lists — heading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393CDE1A-D7DB-4C95-9FD8-C805EDC1BC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3 Lists with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48415B9B-8EA9-424A-8754-C3DCCD0AB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B93379EB-58A9-4584-BA10-E7A049EC20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D6C9EC28-9B2E-4831-ADFE-09BF599D4ECE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4 Text — emphasis and 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6717CD8E-FE12-4FDF-BB80-F052DDA046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87EFFA5F-8D59-407C-8D95-8048AEC471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1F29DAB9-BEBF-4AFF-AC88-C5E82AF2C59F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5 Two columns — incremental displ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EB3FC26D-5D89-4090-BA2E-044CD484A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D3BD10B5-481D-440F-B462-686F40292A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52006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left column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24EA1E82-6959-4B24-93F3-3BCCF38B6C89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91275" y="1809750"/>
            <a:ext cx="52006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right column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D4CC76C2-DB8A-4B5B-A487-8FA182B7BEE6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6 Two columns — quick rev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A39C65B7-21A6-4F79-BD65-7BC0F67D6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E41E3218-59B0-4512-AD96-4E47F204CC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52006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left column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18EF4DDD-A546-47DE-9307-80F036CC35B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91275" y="1809750"/>
            <a:ext cx="52006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right column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FBD086D9-80DD-4018-AC09-80C4705A7A5B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7 Two columns — dimmed rev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9A0E5607-F5CA-48AA-A884-1CDADED9F9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10ED380E-A438-446D-BF8A-CE10FB3961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52006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left column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34162278-EFBD-4EB0-8042-FE8766DD3422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91275" y="1809750"/>
            <a:ext cx="52006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right column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71B487E5-64C1-4D7E-A4D4-ED7E169E9449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8 In-place content — table or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AA2FC82-20C5-4D59-B42E-4A6D8C07EC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0CC646A9-3A02-4601-BA66-A40515317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1095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introduction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4098F6F0-C3D1-45C6-8FB9-4C1EF8AD0F2F}"/>
              </a:ext>
            </a:extLst>
          </p:cNvPr>
          <p:cNvSpPr>
            <a:spLocks noGrp="1"/>
          </p:cNvSpPr>
          <p:nvPr>
            <p:ph type="tbl" idx="2"/>
          </p:nvPr>
        </p:nvSpPr>
        <p:spPr>
          <a:xfrm>
            <a:off x="4381500" y="3143250"/>
            <a:ext cx="3429000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table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775B7C77-E4D0-472D-9AE4-1EB317A56E95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09 Long content — compac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5E5AAF0B-B660-4B52-BD25-CDB1DB28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5914708B-2D63-4EEF-88B1-67BB5D957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chemeClr val="tx1"/>
                </a:solidFill>
              </a:defRPr>
            </a:defPPr>
            <a:lvl1pPr algn="l">
              <a:defRPr sz="1800" b="0">
                <a:solidFill>
                  <a:schemeClr val="tx1"/>
                </a:solidFill>
              </a:defRPr>
            </a:lvl1pPr>
            <a:lvl2pPr algn="l">
              <a:defRPr sz="1800" b="0">
                <a:solidFill>
                  <a:schemeClr val="tx1"/>
                </a:solidFill>
              </a:defRPr>
            </a:lvl2pPr>
            <a:lvl3pPr algn="l">
              <a:defRPr sz="1800" b="0">
                <a:solidFill>
                  <a:schemeClr val="tx1"/>
                </a:solidFill>
              </a:defRPr>
            </a:lvl3pPr>
            <a:lvl4pPr algn="l">
              <a:defRPr sz="1800" b="0">
                <a:solidFill>
                  <a:schemeClr val="tx1"/>
                </a:solidFill>
              </a:defRPr>
            </a:lvl4pPr>
            <a:lvl5pPr algn="l">
              <a:defRPr sz="1800" b="0">
                <a:solidFill>
                  <a:schemeClr val="tx1"/>
                </a:solidFill>
              </a:defRPr>
            </a:lvl5pPr>
            <a:lvl6pPr algn="l">
              <a:defRPr sz="1800" b="0">
                <a:solidFill>
                  <a:schemeClr val="tx1"/>
                </a:solidFill>
              </a:defRPr>
            </a:lvl6pPr>
            <a:lvl7pPr algn="l">
              <a:defRPr sz="1800" b="0">
                <a:solidFill>
                  <a:schemeClr val="tx1"/>
                </a:solidFill>
              </a:defRPr>
            </a:lvl7pPr>
            <a:lvl8pPr algn="l">
              <a:defRPr sz="1800" b="0">
                <a:solidFill>
                  <a:schemeClr val="tx1"/>
                </a:solidFill>
              </a:defRPr>
            </a:lvl8pPr>
            <a:lvl9pPr algn="l">
              <a:defRPr sz="1800" b="0">
                <a:solidFill>
                  <a:schemeClr val="tx1"/>
                </a:solidFill>
              </a:defRPr>
            </a:lvl9pPr>
          </a:lstStyle>
          <a:p>
            <a:pPr algn="l">
              <a:defRPr sz="1800" b="0">
                <a:solidFill>
                  <a:schemeClr val="tx1"/>
                </a:solidFill>
              </a:defRPr>
            </a:pPr>
            <a:r>
              <a:rPr sz="1800" b="0">
                <a:solidFill>
                  <a:schemeClr val="tx1"/>
                </a:solidFill>
              </a:rPr>
              <a:t>Click to edit long content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0D6F047E-A328-4071-9147-4B27EDCDF6F3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0 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E92F9E-7452-443C-A5E3-C836F182FC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ceholder_1">
            <a:extLst>
              <a:ext uri="{FF2B5EF4-FFF2-40B4-BE49-F238E27FC236}">
                <a16:creationId xmlns:a16="http://schemas.microsoft.com/office/drawing/2014/main" id="{1D5A6FDA-6B2C-4366-8AC6-6BC44A9B7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66750"/>
            <a:ext cx="11277600" cy="1047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4226" b="1">
                <a:solidFill>
                  <a:schemeClr val="tx1"/>
                </a:solidFill>
              </a:defRPr>
            </a:defPPr>
            <a:lvl1pPr algn="ctr">
              <a:defRPr sz="4226" b="1">
                <a:solidFill>
                  <a:schemeClr val="tx1"/>
                </a:solidFill>
              </a:defRPr>
            </a:lvl1pPr>
            <a:lvl2pPr algn="ctr">
              <a:defRPr sz="4226" b="1">
                <a:solidFill>
                  <a:schemeClr val="tx1"/>
                </a:solidFill>
              </a:defRPr>
            </a:lvl2pPr>
            <a:lvl3pPr algn="ctr">
              <a:defRPr sz="4226" b="1">
                <a:solidFill>
                  <a:schemeClr val="tx1"/>
                </a:solidFill>
              </a:defRPr>
            </a:lvl3pPr>
            <a:lvl4pPr algn="ctr">
              <a:defRPr sz="4226" b="1">
                <a:solidFill>
                  <a:schemeClr val="tx1"/>
                </a:solidFill>
              </a:defRPr>
            </a:lvl4pPr>
            <a:lvl5pPr algn="ctr">
              <a:defRPr sz="4226" b="1">
                <a:solidFill>
                  <a:schemeClr val="tx1"/>
                </a:solidFill>
              </a:defRPr>
            </a:lvl5pPr>
            <a:lvl6pPr algn="ctr">
              <a:defRPr sz="4226" b="1">
                <a:solidFill>
                  <a:schemeClr val="tx1"/>
                </a:solidFill>
              </a:defRPr>
            </a:lvl6pPr>
            <a:lvl7pPr algn="ctr">
              <a:defRPr sz="4226" b="1">
                <a:solidFill>
                  <a:schemeClr val="tx1"/>
                </a:solidFill>
              </a:defRPr>
            </a:lvl7pPr>
            <a:lvl8pPr algn="ctr">
              <a:defRPr sz="4226" b="1">
                <a:solidFill>
                  <a:schemeClr val="tx1"/>
                </a:solidFill>
              </a:defRPr>
            </a:lvl8pPr>
            <a:lvl9pPr algn="ctr">
              <a:defRPr sz="4226" b="1">
                <a:solidFill>
                  <a:schemeClr val="tx1"/>
                </a:solidFill>
              </a:defRPr>
            </a:lvl9pPr>
          </a:lstStyle>
          <a:p>
            <a:pPr algn="ctr">
              <a:defRPr sz="4226" b="1">
                <a:solidFill>
                  <a:schemeClr val="tx1"/>
                </a:solidFill>
              </a:defRPr>
            </a:pPr>
            <a:r>
              <a:rPr sz="4226" b="1">
                <a:solidFill>
                  <a:schemeClr val="tx1"/>
                </a:solidFill>
              </a:rPr>
              <a:t>Click to edit title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5857875" y="1790700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502F13F3-79CD-4B7A-BB42-14AF0D131CD9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 Image left —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DB76618B-2F40-4879-96AA-7398F0BE3A33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00075" y="866775"/>
            <a:ext cx="3295650" cy="5695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00CC98D0-0B2F-43CB-BDC6-E89AC808CE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866775"/>
            <a:ext cx="7400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107AF3F1-33ED-47EA-A010-122AE2300C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0" y="1809750"/>
            <a:ext cx="7400925" cy="466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3AC6B1AC-7768-476F-94E3-E997CB9FCD57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 Image right —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F5ECE937-2152-406C-AF26-7FB8A673013C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8296275" y="866775"/>
            <a:ext cx="3295650" cy="5695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6B25B3E9-5345-4B20-9ABA-1425D1B3CE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7400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D0638AE2-C2CC-43C3-8BBE-345B191FF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7400925" cy="466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29C8AC7C-8E50-4E3E-95D7-911A24C95C88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3 Image left —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1F58BF43-37D1-4BDF-9BF0-036F8191DF6D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3895725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B8EEB3A2-9EC2-4876-957F-24B49CAE0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91000" y="866775"/>
            <a:ext cx="7400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5D54036C-D510-431C-AFDA-1C5756C5C9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91000" y="1809750"/>
            <a:ext cx="7400925" cy="466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1BB58873-C2AD-41CC-8277-458C8E2EE5B4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 Image right —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6C1DEDD9-2736-4781-BD2E-6FD3D17EDCD4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8296275" y="0"/>
            <a:ext cx="3895725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D1C21EDC-F022-4B90-992B-CC1839A471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7400925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FA9D47EB-D387-4B57-8768-1F6D99BE62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7400925" cy="466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AA4DE37-EEAD-42B6-B09D-619FB56FB671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 Large image left —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C4CDA44B-5662-4A74-8D4F-D037A056D557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600075" y="866775"/>
            <a:ext cx="5695950" cy="5695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50F57E70-D475-4141-84F5-1FEF2C7B0E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0" y="866775"/>
            <a:ext cx="5000625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C8714DD4-1DE5-4CB9-9443-D1E9006FD0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1300" y="2409825"/>
            <a:ext cx="5000625" cy="400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327DCEF8-7B4A-405B-A7CD-A96CC5B7333C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6 Large image right — inse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B64D3686-52D9-4310-AF9A-8356368E4E0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895975" y="866775"/>
            <a:ext cx="5695950" cy="5695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42E7097B-14BC-43E4-926F-C503DAFFE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5000625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605D4535-202A-4F0B-A5CF-B4E659FCF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2409825"/>
            <a:ext cx="5000625" cy="400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315C32-746B-47A0-9C84-93E71CC1352C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7 Large image left —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AB054DF8-D08C-4F76-9A92-DFC41B247ABE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6286500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AE387867-AF17-4035-86A5-D3E253774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91300" y="866775"/>
            <a:ext cx="5000625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D74F756C-A185-4D7C-9485-5D024DABA5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91300" y="2409825"/>
            <a:ext cx="5000625" cy="400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8DCB2A3A-BB6A-47B4-B94E-42C889C0A6D9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8 Large image right — full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F0099E32-6562-42B4-AB20-861676188F90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5905500" y="0"/>
            <a:ext cx="6286500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F243B2C1-3155-4BA6-B882-317C81A1C2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5000625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415C9C5F-D4D9-489E-A176-5A4A790204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2409825"/>
            <a:ext cx="5000625" cy="400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2FA23127-B481-48A3-B2E5-9B0636C4ABE4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9 Figure or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B93B89AB-D93A-409C-A229-8DF5615A3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A95296E3-F03E-4D90-992B-E7631128E659}"/>
              </a:ext>
            </a:extLst>
          </p:cNvPr>
          <p:cNvSpPr>
            <a:spLocks noGrp="1"/>
          </p:cNvSpPr>
          <p:nvPr>
            <p:ph type="chart" idx="2"/>
          </p:nvPr>
        </p:nvSpPr>
        <p:spPr>
          <a:xfrm>
            <a:off x="2857500" y="1809750"/>
            <a:ext cx="6477000" cy="4286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chart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02F7D704-D1B5-4840-BA63-350479269F10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0 Columns — four content reg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94D35DC3-2232-4CD4-B2DC-07360E314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0AE438B7-FBA9-4EEA-956D-B84753204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52006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column text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F51F7ADB-ABF5-401D-BFC0-AAD6D43D629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91275" y="1809750"/>
            <a:ext cx="52006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column text</a:t>
            </a:r>
          </a:p>
        </p:txBody>
      </p:sp>
      <p:sp>
        <p:nvSpPr>
          <p:cNvPr id="5" name="placeholder_4">
            <a:extLst>
              <a:ext uri="{FF2B5EF4-FFF2-40B4-BE49-F238E27FC236}">
                <a16:creationId xmlns:a16="http://schemas.microsoft.com/office/drawing/2014/main" id="{B1123CE9-9B9C-420F-BF3F-2D922453260B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0075" y="4048125"/>
            <a:ext cx="52006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column text</a:t>
            </a:r>
          </a:p>
        </p:txBody>
      </p:sp>
      <p:sp>
        <p:nvSpPr>
          <p:cNvPr id="6" name="placeholder_5">
            <a:extLst>
              <a:ext uri="{FF2B5EF4-FFF2-40B4-BE49-F238E27FC236}">
                <a16:creationId xmlns:a16="http://schemas.microsoft.com/office/drawing/2014/main" id="{300C8893-3764-4C8C-9B33-852AF3BFFB81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391275" y="4048125"/>
            <a:ext cx="5200650" cy="2190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column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8EFBF5A0-07FF-4B8B-ACB7-04DDE5E9317A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1 Two panes — title and rea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C9B63B-A1A4-4123-A901-42AE117660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ceholder_1">
            <a:extLst>
              <a:ext uri="{FF2B5EF4-FFF2-40B4-BE49-F238E27FC236}">
                <a16:creationId xmlns:a16="http://schemas.microsoft.com/office/drawing/2014/main" id="{95C4D8F9-CB2A-4062-B6F2-9FBF707EB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2381250"/>
            <a:ext cx="4905375" cy="1285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2D2FF52B-E07F-4D2C-9F8C-F3AB821BC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4000500"/>
            <a:ext cx="4905375" cy="2000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left pane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2AA98351-117C-4945-9A8E-FB44E81508BC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677025" y="2476500"/>
            <a:ext cx="4905375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right pane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711269C8-C2A1-490C-8562-10FF31DE775C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 Placement — nine posi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34534568-FE48-47BD-882E-8FE4E44F22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952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top left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1D9837F8-1A19-4292-8B01-38921AC09C9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4362450" y="952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348" b="0">
                <a:solidFill>
                  <a:schemeClr val="tx1"/>
                </a:solidFill>
              </a:defRPr>
            </a:defPPr>
            <a:lvl1pPr algn="ctr">
              <a:defRPr sz="2348" b="0">
                <a:solidFill>
                  <a:schemeClr val="tx1"/>
                </a:solidFill>
              </a:defRPr>
            </a:lvl1pPr>
            <a:lvl2pPr algn="ctr">
              <a:defRPr sz="2348" b="0">
                <a:solidFill>
                  <a:schemeClr val="tx1"/>
                </a:solidFill>
              </a:defRPr>
            </a:lvl2pPr>
            <a:lvl3pPr algn="ctr">
              <a:defRPr sz="2348" b="0">
                <a:solidFill>
                  <a:schemeClr val="tx1"/>
                </a:solidFill>
              </a:defRPr>
            </a:lvl3pPr>
            <a:lvl4pPr algn="ctr">
              <a:defRPr sz="2348" b="0">
                <a:solidFill>
                  <a:schemeClr val="tx1"/>
                </a:solidFill>
              </a:defRPr>
            </a:lvl4pPr>
            <a:lvl5pPr algn="ctr">
              <a:defRPr sz="2348" b="0">
                <a:solidFill>
                  <a:schemeClr val="tx1"/>
                </a:solidFill>
              </a:defRPr>
            </a:lvl5pPr>
            <a:lvl6pPr algn="ctr">
              <a:defRPr sz="2348" b="0">
                <a:solidFill>
                  <a:schemeClr val="tx1"/>
                </a:solidFill>
              </a:defRPr>
            </a:lvl6pPr>
            <a:lvl7pPr algn="ctr">
              <a:defRPr sz="2348" b="0">
                <a:solidFill>
                  <a:schemeClr val="tx1"/>
                </a:solidFill>
              </a:defRPr>
            </a:lvl7pPr>
            <a:lvl8pPr algn="ctr">
              <a:defRPr sz="2348" b="0">
                <a:solidFill>
                  <a:schemeClr val="tx1"/>
                </a:solidFill>
              </a:defRPr>
            </a:lvl8pPr>
            <a:lvl9pPr algn="ctr">
              <a:defRPr sz="2348" b="0">
                <a:solidFill>
                  <a:schemeClr val="tx1"/>
                </a:solidFill>
              </a:defRPr>
            </a:lvl9pPr>
          </a:lstStyle>
          <a:p>
            <a:pPr algn="ctr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top centre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E42042C8-1E4A-47A1-9354-17F27EF9F0F6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8124825" y="952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2348" b="0">
                <a:solidFill>
                  <a:schemeClr val="tx1"/>
                </a:solidFill>
              </a:defRPr>
            </a:defPPr>
            <a:lvl1pPr algn="r">
              <a:defRPr sz="2348" b="0">
                <a:solidFill>
                  <a:schemeClr val="tx1"/>
                </a:solidFill>
              </a:defRPr>
            </a:lvl1pPr>
            <a:lvl2pPr algn="r">
              <a:defRPr sz="2348" b="0">
                <a:solidFill>
                  <a:schemeClr val="tx1"/>
                </a:solidFill>
              </a:defRPr>
            </a:lvl2pPr>
            <a:lvl3pPr algn="r">
              <a:defRPr sz="2348" b="0">
                <a:solidFill>
                  <a:schemeClr val="tx1"/>
                </a:solidFill>
              </a:defRPr>
            </a:lvl3pPr>
            <a:lvl4pPr algn="r">
              <a:defRPr sz="2348" b="0">
                <a:solidFill>
                  <a:schemeClr val="tx1"/>
                </a:solidFill>
              </a:defRPr>
            </a:lvl4pPr>
            <a:lvl5pPr algn="r">
              <a:defRPr sz="2348" b="0">
                <a:solidFill>
                  <a:schemeClr val="tx1"/>
                </a:solidFill>
              </a:defRPr>
            </a:lvl5pPr>
            <a:lvl6pPr algn="r">
              <a:defRPr sz="2348" b="0">
                <a:solidFill>
                  <a:schemeClr val="tx1"/>
                </a:solidFill>
              </a:defRPr>
            </a:lvl6pPr>
            <a:lvl7pPr algn="r">
              <a:defRPr sz="2348" b="0">
                <a:solidFill>
                  <a:schemeClr val="tx1"/>
                </a:solidFill>
              </a:defRPr>
            </a:lvl7pPr>
            <a:lvl8pPr algn="r">
              <a:defRPr sz="2348" b="0">
                <a:solidFill>
                  <a:schemeClr val="tx1"/>
                </a:solidFill>
              </a:defRPr>
            </a:lvl8pPr>
            <a:lvl9pPr algn="r">
              <a:defRPr sz="2348" b="0">
                <a:solidFill>
                  <a:schemeClr val="tx1"/>
                </a:solidFill>
              </a:defRPr>
            </a:lvl9pPr>
          </a:lstStyle>
          <a:p>
            <a:pPr algn="r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top right</a:t>
            </a:r>
          </a:p>
        </p:txBody>
      </p:sp>
      <p:sp>
        <p:nvSpPr>
          <p:cNvPr id="5" name="placeholder_4">
            <a:extLst>
              <a:ext uri="{FF2B5EF4-FFF2-40B4-BE49-F238E27FC236}">
                <a16:creationId xmlns:a16="http://schemas.microsoft.com/office/drawing/2014/main" id="{36BDE845-F386-4A4F-A745-BD388ED121E6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00075" y="2857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middle left</a:t>
            </a:r>
          </a:p>
        </p:txBody>
      </p:sp>
      <p:sp>
        <p:nvSpPr>
          <p:cNvPr id="6" name="placeholder_5">
            <a:extLst>
              <a:ext uri="{FF2B5EF4-FFF2-40B4-BE49-F238E27FC236}">
                <a16:creationId xmlns:a16="http://schemas.microsoft.com/office/drawing/2014/main" id="{89255FFB-59A1-44CA-81A1-C549D9E642B1}"/>
              </a:ext>
            </a:extLst>
          </p:cNvPr>
          <p:cNvSpPr>
            <a:spLocks noGrp="1"/>
          </p:cNvSpPr>
          <p:nvPr>
            <p:ph type="body" idx="5"/>
          </p:nvPr>
        </p:nvSpPr>
        <p:spPr>
          <a:xfrm>
            <a:off x="4362450" y="2857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348" b="0">
                <a:solidFill>
                  <a:schemeClr val="tx1"/>
                </a:solidFill>
              </a:defRPr>
            </a:defPPr>
            <a:lvl1pPr algn="ctr">
              <a:defRPr sz="2348" b="0">
                <a:solidFill>
                  <a:schemeClr val="tx1"/>
                </a:solidFill>
              </a:defRPr>
            </a:lvl1pPr>
            <a:lvl2pPr algn="ctr">
              <a:defRPr sz="2348" b="0">
                <a:solidFill>
                  <a:schemeClr val="tx1"/>
                </a:solidFill>
              </a:defRPr>
            </a:lvl2pPr>
            <a:lvl3pPr algn="ctr">
              <a:defRPr sz="2348" b="0">
                <a:solidFill>
                  <a:schemeClr val="tx1"/>
                </a:solidFill>
              </a:defRPr>
            </a:lvl3pPr>
            <a:lvl4pPr algn="ctr">
              <a:defRPr sz="2348" b="0">
                <a:solidFill>
                  <a:schemeClr val="tx1"/>
                </a:solidFill>
              </a:defRPr>
            </a:lvl4pPr>
            <a:lvl5pPr algn="ctr">
              <a:defRPr sz="2348" b="0">
                <a:solidFill>
                  <a:schemeClr val="tx1"/>
                </a:solidFill>
              </a:defRPr>
            </a:lvl5pPr>
            <a:lvl6pPr algn="ctr">
              <a:defRPr sz="2348" b="0">
                <a:solidFill>
                  <a:schemeClr val="tx1"/>
                </a:solidFill>
              </a:defRPr>
            </a:lvl6pPr>
            <a:lvl7pPr algn="ctr">
              <a:defRPr sz="2348" b="0">
                <a:solidFill>
                  <a:schemeClr val="tx1"/>
                </a:solidFill>
              </a:defRPr>
            </a:lvl7pPr>
            <a:lvl8pPr algn="ctr">
              <a:defRPr sz="2348" b="0">
                <a:solidFill>
                  <a:schemeClr val="tx1"/>
                </a:solidFill>
              </a:defRPr>
            </a:lvl8pPr>
            <a:lvl9pPr algn="ctr">
              <a:defRPr sz="2348" b="0">
                <a:solidFill>
                  <a:schemeClr val="tx1"/>
                </a:solidFill>
              </a:defRPr>
            </a:lvl9pPr>
          </a:lstStyle>
          <a:p>
            <a:pPr algn="ctr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middle centre</a:t>
            </a:r>
          </a:p>
        </p:txBody>
      </p:sp>
      <p:sp>
        <p:nvSpPr>
          <p:cNvPr id="7" name="placeholder_6">
            <a:extLst>
              <a:ext uri="{FF2B5EF4-FFF2-40B4-BE49-F238E27FC236}">
                <a16:creationId xmlns:a16="http://schemas.microsoft.com/office/drawing/2014/main" id="{5CEAC100-9A6B-4B56-9645-B7647BA5976E}"/>
              </a:ext>
            </a:extLst>
          </p:cNvPr>
          <p:cNvSpPr>
            <a:spLocks noGrp="1"/>
          </p:cNvSpPr>
          <p:nvPr>
            <p:ph type="body" idx="6"/>
          </p:nvPr>
        </p:nvSpPr>
        <p:spPr>
          <a:xfrm>
            <a:off x="8124825" y="2857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2348" b="0">
                <a:solidFill>
                  <a:schemeClr val="tx1"/>
                </a:solidFill>
              </a:defRPr>
            </a:defPPr>
            <a:lvl1pPr algn="r">
              <a:defRPr sz="2348" b="0">
                <a:solidFill>
                  <a:schemeClr val="tx1"/>
                </a:solidFill>
              </a:defRPr>
            </a:lvl1pPr>
            <a:lvl2pPr algn="r">
              <a:defRPr sz="2348" b="0">
                <a:solidFill>
                  <a:schemeClr val="tx1"/>
                </a:solidFill>
              </a:defRPr>
            </a:lvl2pPr>
            <a:lvl3pPr algn="r">
              <a:defRPr sz="2348" b="0">
                <a:solidFill>
                  <a:schemeClr val="tx1"/>
                </a:solidFill>
              </a:defRPr>
            </a:lvl3pPr>
            <a:lvl4pPr algn="r">
              <a:defRPr sz="2348" b="0">
                <a:solidFill>
                  <a:schemeClr val="tx1"/>
                </a:solidFill>
              </a:defRPr>
            </a:lvl4pPr>
            <a:lvl5pPr algn="r">
              <a:defRPr sz="2348" b="0">
                <a:solidFill>
                  <a:schemeClr val="tx1"/>
                </a:solidFill>
              </a:defRPr>
            </a:lvl5pPr>
            <a:lvl6pPr algn="r">
              <a:defRPr sz="2348" b="0">
                <a:solidFill>
                  <a:schemeClr val="tx1"/>
                </a:solidFill>
              </a:defRPr>
            </a:lvl6pPr>
            <a:lvl7pPr algn="r">
              <a:defRPr sz="2348" b="0">
                <a:solidFill>
                  <a:schemeClr val="tx1"/>
                </a:solidFill>
              </a:defRPr>
            </a:lvl7pPr>
            <a:lvl8pPr algn="r">
              <a:defRPr sz="2348" b="0">
                <a:solidFill>
                  <a:schemeClr val="tx1"/>
                </a:solidFill>
              </a:defRPr>
            </a:lvl8pPr>
            <a:lvl9pPr algn="r">
              <a:defRPr sz="2348" b="0">
                <a:solidFill>
                  <a:schemeClr val="tx1"/>
                </a:solidFill>
              </a:defRPr>
            </a:lvl9pPr>
          </a:lstStyle>
          <a:p>
            <a:pPr algn="r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middle right</a:t>
            </a:r>
          </a:p>
        </p:txBody>
      </p:sp>
      <p:sp>
        <p:nvSpPr>
          <p:cNvPr id="8" name="placeholder_7">
            <a:extLst>
              <a:ext uri="{FF2B5EF4-FFF2-40B4-BE49-F238E27FC236}">
                <a16:creationId xmlns:a16="http://schemas.microsoft.com/office/drawing/2014/main" id="{28D18209-A76E-40D9-A1A7-46B6C1FC04AE}"/>
              </a:ext>
            </a:extLst>
          </p:cNvPr>
          <p:cNvSpPr>
            <a:spLocks noGrp="1"/>
          </p:cNvSpPr>
          <p:nvPr>
            <p:ph type="body" idx="7"/>
          </p:nvPr>
        </p:nvSpPr>
        <p:spPr>
          <a:xfrm>
            <a:off x="600075" y="5143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bottom left</a:t>
            </a:r>
          </a:p>
        </p:txBody>
      </p:sp>
      <p:sp>
        <p:nvSpPr>
          <p:cNvPr id="9" name="placeholder_8">
            <a:extLst>
              <a:ext uri="{FF2B5EF4-FFF2-40B4-BE49-F238E27FC236}">
                <a16:creationId xmlns:a16="http://schemas.microsoft.com/office/drawing/2014/main" id="{FA62FF2D-C8FA-4C01-843D-3DEECB84148C}"/>
              </a:ext>
            </a:extLst>
          </p:cNvPr>
          <p:cNvSpPr>
            <a:spLocks noGrp="1"/>
          </p:cNvSpPr>
          <p:nvPr>
            <p:ph type="body" idx="8"/>
          </p:nvPr>
        </p:nvSpPr>
        <p:spPr>
          <a:xfrm>
            <a:off x="4362450" y="5143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2348" b="0">
                <a:solidFill>
                  <a:schemeClr val="tx1"/>
                </a:solidFill>
              </a:defRPr>
            </a:defPPr>
            <a:lvl1pPr algn="ctr">
              <a:defRPr sz="2348" b="0">
                <a:solidFill>
                  <a:schemeClr val="tx1"/>
                </a:solidFill>
              </a:defRPr>
            </a:lvl1pPr>
            <a:lvl2pPr algn="ctr">
              <a:defRPr sz="2348" b="0">
                <a:solidFill>
                  <a:schemeClr val="tx1"/>
                </a:solidFill>
              </a:defRPr>
            </a:lvl2pPr>
            <a:lvl3pPr algn="ctr">
              <a:defRPr sz="2348" b="0">
                <a:solidFill>
                  <a:schemeClr val="tx1"/>
                </a:solidFill>
              </a:defRPr>
            </a:lvl3pPr>
            <a:lvl4pPr algn="ctr">
              <a:defRPr sz="2348" b="0">
                <a:solidFill>
                  <a:schemeClr val="tx1"/>
                </a:solidFill>
              </a:defRPr>
            </a:lvl4pPr>
            <a:lvl5pPr algn="ctr">
              <a:defRPr sz="2348" b="0">
                <a:solidFill>
                  <a:schemeClr val="tx1"/>
                </a:solidFill>
              </a:defRPr>
            </a:lvl5pPr>
            <a:lvl6pPr algn="ctr">
              <a:defRPr sz="2348" b="0">
                <a:solidFill>
                  <a:schemeClr val="tx1"/>
                </a:solidFill>
              </a:defRPr>
            </a:lvl6pPr>
            <a:lvl7pPr algn="ctr">
              <a:defRPr sz="2348" b="0">
                <a:solidFill>
                  <a:schemeClr val="tx1"/>
                </a:solidFill>
              </a:defRPr>
            </a:lvl7pPr>
            <a:lvl8pPr algn="ctr">
              <a:defRPr sz="2348" b="0">
                <a:solidFill>
                  <a:schemeClr val="tx1"/>
                </a:solidFill>
              </a:defRPr>
            </a:lvl8pPr>
            <a:lvl9pPr algn="ctr">
              <a:defRPr sz="2348" b="0">
                <a:solidFill>
                  <a:schemeClr val="tx1"/>
                </a:solidFill>
              </a:defRPr>
            </a:lvl9pPr>
          </a:lstStyle>
          <a:p>
            <a:pPr algn="ctr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bottom centre</a:t>
            </a:r>
          </a:p>
        </p:txBody>
      </p:sp>
      <p:sp>
        <p:nvSpPr>
          <p:cNvPr id="10" name="placeholder_9">
            <a:extLst>
              <a:ext uri="{FF2B5EF4-FFF2-40B4-BE49-F238E27FC236}">
                <a16:creationId xmlns:a16="http://schemas.microsoft.com/office/drawing/2014/main" id="{E09CE8BC-43B8-40AE-9461-DB03B0409C11}"/>
              </a:ext>
            </a:extLst>
          </p:cNvPr>
          <p:cNvSpPr>
            <a:spLocks noGrp="1"/>
          </p:cNvSpPr>
          <p:nvPr>
            <p:ph type="body" idx="9"/>
          </p:nvPr>
        </p:nvSpPr>
        <p:spPr>
          <a:xfrm>
            <a:off x="8124825" y="5143500"/>
            <a:ext cx="3467100" cy="1333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r">
              <a:defRPr sz="2348" b="0">
                <a:solidFill>
                  <a:schemeClr val="tx1"/>
                </a:solidFill>
              </a:defRPr>
            </a:defPPr>
            <a:lvl1pPr algn="r">
              <a:defRPr sz="2348" b="0">
                <a:solidFill>
                  <a:schemeClr val="tx1"/>
                </a:solidFill>
              </a:defRPr>
            </a:lvl1pPr>
            <a:lvl2pPr algn="r">
              <a:defRPr sz="2348" b="0">
                <a:solidFill>
                  <a:schemeClr val="tx1"/>
                </a:solidFill>
              </a:defRPr>
            </a:lvl2pPr>
            <a:lvl3pPr algn="r">
              <a:defRPr sz="2348" b="0">
                <a:solidFill>
                  <a:schemeClr val="tx1"/>
                </a:solidFill>
              </a:defRPr>
            </a:lvl3pPr>
            <a:lvl4pPr algn="r">
              <a:defRPr sz="2348" b="0">
                <a:solidFill>
                  <a:schemeClr val="tx1"/>
                </a:solidFill>
              </a:defRPr>
            </a:lvl4pPr>
            <a:lvl5pPr algn="r">
              <a:defRPr sz="2348" b="0">
                <a:solidFill>
                  <a:schemeClr val="tx1"/>
                </a:solidFill>
              </a:defRPr>
            </a:lvl5pPr>
            <a:lvl6pPr algn="r">
              <a:defRPr sz="2348" b="0">
                <a:solidFill>
                  <a:schemeClr val="tx1"/>
                </a:solidFill>
              </a:defRPr>
            </a:lvl6pPr>
            <a:lvl7pPr algn="r">
              <a:defRPr sz="2348" b="0">
                <a:solidFill>
                  <a:schemeClr val="tx1"/>
                </a:solidFill>
              </a:defRPr>
            </a:lvl7pPr>
            <a:lvl8pPr algn="r">
              <a:defRPr sz="2348" b="0">
                <a:solidFill>
                  <a:schemeClr val="tx1"/>
                </a:solidFill>
              </a:defRPr>
            </a:lvl8pPr>
            <a:lvl9pPr algn="r">
              <a:defRPr sz="2348" b="0">
                <a:solidFill>
                  <a:schemeClr val="tx1"/>
                </a:solidFill>
              </a:defRPr>
            </a:lvl9pPr>
          </a:lstStyle>
          <a:p>
            <a:pPr algn="r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bottom right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4AE1D41-9E9C-4AF6-8D97-08A9153F5232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3 Code — numbered blo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6E2A1A5E-9C97-49E6-9BFF-5AEF93F422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14FBDE1A-8E73-4966-89E1-4B1E0E1AE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466725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txBody>
          <a:bodyPr lIns="0" tIns="0" rIns="0" bIns="0" anchor="t"/>
          <a:lstStyle>
            <a:defPPr algn="l">
              <a:defRPr sz="2250" b="0">
                <a:solidFill>
                  <a:srgbClr val="66FF66"/>
                </a:solidFill>
              </a:defRPr>
            </a:defPPr>
            <a:lvl1pPr algn="l">
              <a:defRPr sz="2250" b="0">
                <a:solidFill>
                  <a:srgbClr val="66FF66"/>
                </a:solidFill>
              </a:defRPr>
            </a:lvl1pPr>
            <a:lvl2pPr algn="l">
              <a:defRPr sz="2250" b="0">
                <a:solidFill>
                  <a:srgbClr val="66FF66"/>
                </a:solidFill>
              </a:defRPr>
            </a:lvl2pPr>
            <a:lvl3pPr algn="l">
              <a:defRPr sz="2250" b="0">
                <a:solidFill>
                  <a:srgbClr val="66FF66"/>
                </a:solidFill>
              </a:defRPr>
            </a:lvl3pPr>
            <a:lvl4pPr algn="l">
              <a:defRPr sz="2250" b="0">
                <a:solidFill>
                  <a:srgbClr val="66FF66"/>
                </a:solidFill>
              </a:defRPr>
            </a:lvl4pPr>
            <a:lvl5pPr algn="l">
              <a:defRPr sz="2250" b="0">
                <a:solidFill>
                  <a:srgbClr val="66FF66"/>
                </a:solidFill>
              </a:defRPr>
            </a:lvl5pPr>
            <a:lvl6pPr algn="l">
              <a:defRPr sz="2250" b="0">
                <a:solidFill>
                  <a:srgbClr val="66FF66"/>
                </a:solidFill>
              </a:defRPr>
            </a:lvl6pPr>
            <a:lvl7pPr algn="l">
              <a:defRPr sz="2250" b="0">
                <a:solidFill>
                  <a:srgbClr val="66FF66"/>
                </a:solidFill>
              </a:defRPr>
            </a:lvl7pPr>
            <a:lvl8pPr algn="l">
              <a:defRPr sz="2250" b="0">
                <a:solidFill>
                  <a:srgbClr val="66FF66"/>
                </a:solidFill>
              </a:defRPr>
            </a:lvl8pPr>
            <a:lvl9pPr algn="l">
              <a:defRPr sz="2250" b="0">
                <a:solidFill>
                  <a:srgbClr val="66FF66"/>
                </a:solidFill>
              </a:defRPr>
            </a:lvl9pPr>
          </a:lstStyle>
          <a:p>
            <a:pPr algn="l">
              <a:defRPr sz="2250" b="0">
                <a:solidFill>
                  <a:srgbClr val="66FF66"/>
                </a:solidFill>
              </a:defRPr>
            </a:pPr>
            <a:r>
              <a:rPr sz="2250" b="0">
                <a:solidFill>
                  <a:srgbClr val="66FF66"/>
                </a:solidFill>
              </a:rPr>
              <a:t>Click to edit code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754C78D9-B2E4-4791-A189-376DF4985A60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 Stripe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01545620-79FE-4AEF-AFBE-054A659FC8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B5B3AF17-9811-4773-B2BF-C3391B03FA62}"/>
              </a:ext>
            </a:extLst>
          </p:cNvPr>
          <p:cNvSpPr>
            <a:spLocks noGrp="1"/>
          </p:cNvSpPr>
          <p:nvPr>
            <p:ph type="tbl" idx="2"/>
          </p:nvPr>
        </p:nvSpPr>
        <p:spPr>
          <a:xfrm>
            <a:off x="600075" y="1809750"/>
            <a:ext cx="10991850" cy="4191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table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ADA1D688-316E-4FE3-B9C9-1182AFAAF987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5 Image background — cov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E1E49A06-E9DB-4049-9ACF-CA544522412F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22D3A6C4-FFF2-4E64-99EF-7230305CE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39C204A9-12C6-4AE5-9190-9ADE4E598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572500" y="4905375"/>
            <a:ext cx="3019425" cy="1619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B8516931-F20A-42FF-8FFA-D93EADD158E7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6 Image background — f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1064706E-1DC7-4E23-A7BE-52C2B86A4081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3524250" y="0"/>
            <a:ext cx="5143500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C8D7B50F-424D-448F-8ECA-D577D913F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57A54B92-B82D-460F-8D32-BCAB7C1550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2762250"/>
            <a:ext cx="3019425" cy="2000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629DB613-2A5D-42AB-AA8B-4DE2C2EC4D00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7 Dark image background — white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8B570FB-2D3C-472B-BF68-FC3A951E4C1E}"/>
              </a:ext>
            </a:extLst>
          </p:cNvPr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rgbClr val="666666"/>
                </a:solidFill>
              </a:defRPr>
            </a:defPPr>
            <a:lvl1pPr algn="l">
              <a:defRPr sz="1800" b="0">
                <a:solidFill>
                  <a:srgbClr val="666666"/>
                </a:solidFill>
              </a:defRPr>
            </a:lvl1pPr>
            <a:lvl2pPr algn="l">
              <a:defRPr sz="1800" b="0">
                <a:solidFill>
                  <a:srgbClr val="666666"/>
                </a:solidFill>
              </a:defRPr>
            </a:lvl2pPr>
            <a:lvl3pPr algn="l">
              <a:defRPr sz="1800" b="0">
                <a:solidFill>
                  <a:srgbClr val="666666"/>
                </a:solidFill>
              </a:defRPr>
            </a:lvl3pPr>
            <a:lvl4pPr algn="l">
              <a:defRPr sz="1800" b="0">
                <a:solidFill>
                  <a:srgbClr val="666666"/>
                </a:solidFill>
              </a:defRPr>
            </a:lvl4pPr>
            <a:lvl5pPr algn="l">
              <a:defRPr sz="1800" b="0">
                <a:solidFill>
                  <a:srgbClr val="666666"/>
                </a:solidFill>
              </a:defRPr>
            </a:lvl5pPr>
            <a:lvl6pPr algn="l">
              <a:defRPr sz="1800" b="0">
                <a:solidFill>
                  <a:srgbClr val="666666"/>
                </a:solidFill>
              </a:defRPr>
            </a:lvl6pPr>
            <a:lvl7pPr algn="l">
              <a:defRPr sz="1800" b="0">
                <a:solidFill>
                  <a:srgbClr val="666666"/>
                </a:solidFill>
              </a:defRPr>
            </a:lvl7pPr>
            <a:lvl8pPr algn="l">
              <a:defRPr sz="1800" b="0">
                <a:solidFill>
                  <a:srgbClr val="666666"/>
                </a:solidFill>
              </a:defRPr>
            </a:lvl8pPr>
            <a:lvl9pPr algn="l">
              <a:defRPr sz="1800" b="0">
                <a:solidFill>
                  <a:srgbClr val="666666"/>
                </a:solidFill>
              </a:defRPr>
            </a:lvl9pPr>
          </a:lstStyle>
          <a:p>
            <a:pPr algn="l">
              <a:defRPr sz="1800" b="0">
                <a:solidFill>
                  <a:srgbClr val="666666"/>
                </a:solidFill>
              </a:defRPr>
            </a:pPr>
            <a:r>
              <a:rPr sz="1800" b="0">
                <a:solidFill>
                  <a:srgbClr val="666666"/>
                </a:solidFill>
              </a:rPr>
              <a:t>Click to add picture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8AB67448-0EAD-4D1D-9585-6FA6C944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rgbClr val="66C1FF"/>
                </a:solidFill>
              </a:defRPr>
            </a:defPPr>
            <a:lvl1pPr algn="l">
              <a:defRPr sz="4226" b="1">
                <a:solidFill>
                  <a:srgbClr val="66C1FF"/>
                </a:solidFill>
              </a:defRPr>
            </a:lvl1pPr>
            <a:lvl2pPr algn="l">
              <a:defRPr sz="4226" b="1">
                <a:solidFill>
                  <a:srgbClr val="66C1FF"/>
                </a:solidFill>
              </a:defRPr>
            </a:lvl2pPr>
            <a:lvl3pPr algn="l">
              <a:defRPr sz="4226" b="1">
                <a:solidFill>
                  <a:srgbClr val="66C1FF"/>
                </a:solidFill>
              </a:defRPr>
            </a:lvl3pPr>
            <a:lvl4pPr algn="l">
              <a:defRPr sz="4226" b="1">
                <a:solidFill>
                  <a:srgbClr val="66C1FF"/>
                </a:solidFill>
              </a:defRPr>
            </a:lvl4pPr>
            <a:lvl5pPr algn="l">
              <a:defRPr sz="4226" b="1">
                <a:solidFill>
                  <a:srgbClr val="66C1FF"/>
                </a:solidFill>
              </a:defRPr>
            </a:lvl5pPr>
            <a:lvl6pPr algn="l">
              <a:defRPr sz="4226" b="1">
                <a:solidFill>
                  <a:srgbClr val="66C1FF"/>
                </a:solidFill>
              </a:defRPr>
            </a:lvl6pPr>
            <a:lvl7pPr algn="l">
              <a:defRPr sz="4226" b="1">
                <a:solidFill>
                  <a:srgbClr val="66C1FF"/>
                </a:solidFill>
              </a:defRPr>
            </a:lvl7pPr>
            <a:lvl8pPr algn="l">
              <a:defRPr sz="4226" b="1">
                <a:solidFill>
                  <a:srgbClr val="66C1FF"/>
                </a:solidFill>
              </a:defRPr>
            </a:lvl8pPr>
            <a:lvl9pPr algn="l">
              <a:defRPr sz="4226" b="1">
                <a:solidFill>
                  <a:srgbClr val="66C1FF"/>
                </a:solidFill>
              </a:defRPr>
            </a:lvl9pPr>
          </a:lstStyle>
          <a:p>
            <a:pPr algn="l">
              <a:defRPr sz="4226" b="1">
                <a:solidFill>
                  <a:srgbClr val="66C1FF"/>
                </a:solidFill>
              </a:defRPr>
            </a:pPr>
            <a:r>
              <a:rPr sz="4226" b="1">
                <a:solidFill>
                  <a:srgbClr val="66C1FF"/>
                </a:solidFill>
              </a:rPr>
              <a:t>Click to edit title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E5A83055-A564-44A5-80F9-C4D1932281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001250" cy="4000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bg1"/>
                </a:solidFill>
              </a:defRPr>
            </a:defPPr>
            <a:lvl1pPr algn="l">
              <a:defRPr sz="2348" b="0">
                <a:solidFill>
                  <a:schemeClr val="bg1"/>
                </a:solidFill>
              </a:defRPr>
            </a:lvl1pPr>
            <a:lvl2pPr algn="l">
              <a:defRPr sz="2348" b="0">
                <a:solidFill>
                  <a:schemeClr val="bg1"/>
                </a:solidFill>
              </a:defRPr>
            </a:lvl2pPr>
            <a:lvl3pPr algn="l">
              <a:defRPr sz="2348" b="0">
                <a:solidFill>
                  <a:schemeClr val="bg1"/>
                </a:solidFill>
              </a:defRPr>
            </a:lvl3pPr>
            <a:lvl4pPr algn="l">
              <a:defRPr sz="2348" b="0">
                <a:solidFill>
                  <a:schemeClr val="bg1"/>
                </a:solidFill>
              </a:defRPr>
            </a:lvl4pPr>
            <a:lvl5pPr algn="l">
              <a:defRPr sz="2348" b="0">
                <a:solidFill>
                  <a:schemeClr val="bg1"/>
                </a:solidFill>
              </a:defRPr>
            </a:lvl5pPr>
            <a:lvl6pPr algn="l">
              <a:defRPr sz="2348" b="0">
                <a:solidFill>
                  <a:schemeClr val="bg1"/>
                </a:solidFill>
              </a:defRPr>
            </a:lvl6pPr>
            <a:lvl7pPr algn="l">
              <a:defRPr sz="2348" b="0">
                <a:solidFill>
                  <a:schemeClr val="bg1"/>
                </a:solidFill>
              </a:defRPr>
            </a:lvl7pPr>
            <a:lvl8pPr algn="l">
              <a:defRPr sz="2348" b="0">
                <a:solidFill>
                  <a:schemeClr val="bg1"/>
                </a:solidFill>
              </a:defRPr>
            </a:lvl8pPr>
            <a:lvl9pPr algn="l">
              <a:defRPr sz="2348" b="0">
                <a:solidFill>
                  <a:schemeClr val="bg1"/>
                </a:solidFill>
              </a:defRPr>
            </a:lvl9pPr>
          </a:lstStyle>
          <a:p>
            <a:pPr algn="l">
              <a:defRPr sz="2348" b="0">
                <a:solidFill>
                  <a:schemeClr val="bg1"/>
                </a:solidFill>
              </a:defRPr>
            </a:pPr>
            <a:r>
              <a:rPr sz="2348" b="0">
                <a:solidFill>
                  <a:schemeClr val="bg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570B7AEF-496F-4B47-A617-7DA4B8F90B1C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8 Shout — large typ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B50E39F0-69F0-4980-B393-969C3C3CE9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5D3A9A3B-B2F3-4FF2-A5A5-C6661D1DFB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2190750"/>
            <a:ext cx="1099185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7200" b="0">
                <a:solidFill>
                  <a:schemeClr val="tx1"/>
                </a:solidFill>
              </a:defRPr>
            </a:defPPr>
            <a:lvl1pPr algn="l">
              <a:defRPr sz="7200" b="0">
                <a:solidFill>
                  <a:schemeClr val="tx1"/>
                </a:solidFill>
              </a:defRPr>
            </a:lvl1pPr>
            <a:lvl2pPr algn="l">
              <a:defRPr sz="7200" b="0">
                <a:solidFill>
                  <a:schemeClr val="tx1"/>
                </a:solidFill>
              </a:defRPr>
            </a:lvl2pPr>
            <a:lvl3pPr algn="l">
              <a:defRPr sz="7200" b="0">
                <a:solidFill>
                  <a:schemeClr val="tx1"/>
                </a:solidFill>
              </a:defRPr>
            </a:lvl3pPr>
            <a:lvl4pPr algn="l">
              <a:defRPr sz="7200" b="0">
                <a:solidFill>
                  <a:schemeClr val="tx1"/>
                </a:solidFill>
              </a:defRPr>
            </a:lvl4pPr>
            <a:lvl5pPr algn="l">
              <a:defRPr sz="7200" b="0">
                <a:solidFill>
                  <a:schemeClr val="tx1"/>
                </a:solidFill>
              </a:defRPr>
            </a:lvl5pPr>
            <a:lvl6pPr algn="l">
              <a:defRPr sz="7200" b="0">
                <a:solidFill>
                  <a:schemeClr val="tx1"/>
                </a:solidFill>
              </a:defRPr>
            </a:lvl6pPr>
            <a:lvl7pPr algn="l">
              <a:defRPr sz="7200" b="0">
                <a:solidFill>
                  <a:schemeClr val="tx1"/>
                </a:solidFill>
              </a:defRPr>
            </a:lvl7pPr>
            <a:lvl8pPr algn="l">
              <a:defRPr sz="7200" b="0">
                <a:solidFill>
                  <a:schemeClr val="tx1"/>
                </a:solidFill>
              </a:defRPr>
            </a:lvl8pPr>
            <a:lvl9pPr algn="l">
              <a:defRPr sz="7200" b="0">
                <a:solidFill>
                  <a:schemeClr val="tx1"/>
                </a:solidFill>
              </a:defRPr>
            </a:lvl9pPr>
          </a:lstStyle>
          <a:p>
            <a:pPr algn="l">
              <a:defRPr sz="7200" b="0">
                <a:solidFill>
                  <a:schemeClr val="tx1"/>
                </a:solidFill>
              </a:defRPr>
            </a:pPr>
            <a:r>
              <a:rPr sz="7200" b="0">
                <a:solidFill>
                  <a:schemeClr val="tx1"/>
                </a:solidFill>
              </a:rPr>
              <a:t>Click to edit large text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AE463C50-FDAB-4507-AE04-5BE20468901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00075" y="4381500"/>
            <a:ext cx="10991850" cy="1666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7200" b="0">
                <a:solidFill>
                  <a:schemeClr val="tx1"/>
                </a:solidFill>
              </a:defRPr>
            </a:defPPr>
            <a:lvl1pPr algn="l">
              <a:defRPr sz="7200" b="0">
                <a:solidFill>
                  <a:schemeClr val="tx1"/>
                </a:solidFill>
              </a:defRPr>
            </a:lvl1pPr>
            <a:lvl2pPr algn="l">
              <a:defRPr sz="7200" b="0">
                <a:solidFill>
                  <a:schemeClr val="tx1"/>
                </a:solidFill>
              </a:defRPr>
            </a:lvl2pPr>
            <a:lvl3pPr algn="l">
              <a:defRPr sz="7200" b="0">
                <a:solidFill>
                  <a:schemeClr val="tx1"/>
                </a:solidFill>
              </a:defRPr>
            </a:lvl3pPr>
            <a:lvl4pPr algn="l">
              <a:defRPr sz="7200" b="0">
                <a:solidFill>
                  <a:schemeClr val="tx1"/>
                </a:solidFill>
              </a:defRPr>
            </a:lvl4pPr>
            <a:lvl5pPr algn="l">
              <a:defRPr sz="7200" b="0">
                <a:solidFill>
                  <a:schemeClr val="tx1"/>
                </a:solidFill>
              </a:defRPr>
            </a:lvl5pPr>
            <a:lvl6pPr algn="l">
              <a:defRPr sz="7200" b="0">
                <a:solidFill>
                  <a:schemeClr val="tx1"/>
                </a:solidFill>
              </a:defRPr>
            </a:lvl6pPr>
            <a:lvl7pPr algn="l">
              <a:defRPr sz="7200" b="0">
                <a:solidFill>
                  <a:schemeClr val="tx1"/>
                </a:solidFill>
              </a:defRPr>
            </a:lvl7pPr>
            <a:lvl8pPr algn="l">
              <a:defRPr sz="7200" b="0">
                <a:solidFill>
                  <a:schemeClr val="tx1"/>
                </a:solidFill>
              </a:defRPr>
            </a:lvl8pPr>
            <a:lvl9pPr algn="l">
              <a:defRPr sz="7200" b="0">
                <a:solidFill>
                  <a:schemeClr val="tx1"/>
                </a:solidFill>
              </a:defRPr>
            </a:lvl9pPr>
          </a:lstStyle>
          <a:p>
            <a:pPr algn="l">
              <a:defRPr sz="7200" b="0">
                <a:solidFill>
                  <a:schemeClr val="tx1"/>
                </a:solidFill>
              </a:defRPr>
            </a:pPr>
            <a:r>
              <a:rPr sz="7200" b="0">
                <a:solidFill>
                  <a:schemeClr val="tx1"/>
                </a:solidFill>
              </a:rPr>
              <a:t>Click to edit large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091C6F3B-ECAF-4658-AA01-2CA849D6F757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9 Transitions — 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3DA6A58E-500B-436F-A2F0-A8A27DE9C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15B821BF-C335-4700-A40E-FD7BCE7F84C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4476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88E35402-2B03-4DB3-8014-191AD1543D27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 Text fit — compact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9940E8E8-50E6-45E2-885B-43C81E04F8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C008BC62-4514-47A2-A9BB-507AB7A730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10991850" cy="4572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1800" b="0">
                <a:solidFill>
                  <a:schemeClr val="tx1"/>
                </a:solidFill>
              </a:defRPr>
            </a:defPPr>
            <a:lvl1pPr algn="l">
              <a:defRPr sz="1800" b="0">
                <a:solidFill>
                  <a:schemeClr val="tx1"/>
                </a:solidFill>
              </a:defRPr>
            </a:lvl1pPr>
            <a:lvl2pPr algn="l">
              <a:defRPr sz="1800" b="0">
                <a:solidFill>
                  <a:schemeClr val="tx1"/>
                </a:solidFill>
              </a:defRPr>
            </a:lvl2pPr>
            <a:lvl3pPr algn="l">
              <a:defRPr sz="1800" b="0">
                <a:solidFill>
                  <a:schemeClr val="tx1"/>
                </a:solidFill>
              </a:defRPr>
            </a:lvl3pPr>
            <a:lvl4pPr algn="l">
              <a:defRPr sz="1800" b="0">
                <a:solidFill>
                  <a:schemeClr val="tx1"/>
                </a:solidFill>
              </a:defRPr>
            </a:lvl4pPr>
            <a:lvl5pPr algn="l">
              <a:defRPr sz="1800" b="0">
                <a:solidFill>
                  <a:schemeClr val="tx1"/>
                </a:solidFill>
              </a:defRPr>
            </a:lvl5pPr>
            <a:lvl6pPr algn="l">
              <a:defRPr sz="1800" b="0">
                <a:solidFill>
                  <a:schemeClr val="tx1"/>
                </a:solidFill>
              </a:defRPr>
            </a:lvl6pPr>
            <a:lvl7pPr algn="l">
              <a:defRPr sz="1800" b="0">
                <a:solidFill>
                  <a:schemeClr val="tx1"/>
                </a:solidFill>
              </a:defRPr>
            </a:lvl7pPr>
            <a:lvl8pPr algn="l">
              <a:defRPr sz="1800" b="0">
                <a:solidFill>
                  <a:schemeClr val="tx1"/>
                </a:solidFill>
              </a:defRPr>
            </a:lvl8pPr>
            <a:lvl9pPr algn="l">
              <a:defRPr sz="1800" b="0">
                <a:solidFill>
                  <a:schemeClr val="tx1"/>
                </a:solidFill>
              </a:defRPr>
            </a:lvl9pPr>
          </a:lstStyle>
          <a:p>
            <a:pPr algn="l">
              <a:defRPr sz="1800" b="0">
                <a:solidFill>
                  <a:schemeClr val="tx1"/>
                </a:solidFill>
              </a:defRPr>
            </a:pPr>
            <a:r>
              <a:rPr sz="1800" b="0">
                <a:solidFill>
                  <a:schemeClr val="tx1"/>
                </a:solidFill>
              </a:rPr>
              <a:t>Click to edit compact text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6123E216-5490-4419-8C89-DC715608443D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 Comparison — two columns and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493677A-90D5-4A16-ADFD-37546F958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866775"/>
            <a:ext cx="10991850" cy="8572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9975FBB1-1BD1-4BC6-9A78-1FECBE057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1809750"/>
            <a:ext cx="520065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left column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83EC62E6-0701-40F6-A6C5-74CD07A2177B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91275" y="1809750"/>
            <a:ext cx="5200650" cy="2476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right column</a:t>
            </a:r>
          </a:p>
        </p:txBody>
      </p:sp>
      <p:sp>
        <p:nvSpPr>
          <p:cNvPr id="5" name="placeholder_4">
            <a:extLst>
              <a:ext uri="{FF2B5EF4-FFF2-40B4-BE49-F238E27FC236}">
                <a16:creationId xmlns:a16="http://schemas.microsoft.com/office/drawing/2014/main" id="{9A638EE1-AD4A-4FB4-AF29-EC9F29435A19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00075" y="4857750"/>
            <a:ext cx="52006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left caption</a:t>
            </a:r>
          </a:p>
        </p:txBody>
      </p:sp>
      <p:sp>
        <p:nvSpPr>
          <p:cNvPr id="6" name="placeholder_5">
            <a:extLst>
              <a:ext uri="{FF2B5EF4-FFF2-40B4-BE49-F238E27FC236}">
                <a16:creationId xmlns:a16="http://schemas.microsoft.com/office/drawing/2014/main" id="{A4D2AA8B-992C-46CD-AE00-F06E60229409}"/>
              </a:ext>
            </a:extLst>
          </p:cNvPr>
          <p:cNvSpPr>
            <a:spLocks noGrp="1"/>
          </p:cNvSpPr>
          <p:nvPr>
            <p:ph type="body" idx="4"/>
          </p:nvPr>
        </p:nvSpPr>
        <p:spPr>
          <a:xfrm>
            <a:off x="6391275" y="4857750"/>
            <a:ext cx="5200650" cy="1428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right caption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946C59F1-B76F-489F-B204-6666243734D3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2 Conclusion — split pa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F459F26-D65A-4892-8E73-07B0C47B14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ceholder_1">
            <a:extLst>
              <a:ext uri="{FF2B5EF4-FFF2-40B4-BE49-F238E27FC236}">
                <a16:creationId xmlns:a16="http://schemas.microsoft.com/office/drawing/2014/main" id="{71AA3447-2DBF-42C1-9312-E35D5331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3238500"/>
            <a:ext cx="49053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7696A675-3A72-42BF-868D-DA555B61C5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77025" y="2714625"/>
            <a:ext cx="4905375" cy="2857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conclusion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46F3623D-4E78-4418-8C1B-605B77BD64CC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3 Thank you — support 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D5AC8735-C63F-43D5-98D2-1E632D3869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ceholder_1">
            <a:extLst>
              <a:ext uri="{FF2B5EF4-FFF2-40B4-BE49-F238E27FC236}">
                <a16:creationId xmlns:a16="http://schemas.microsoft.com/office/drawing/2014/main" id="{57BBA6D6-5241-4D5B-90C7-D2E2B9B42C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619250"/>
            <a:ext cx="49053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A91DA0AC-C2A5-4302-ACAC-D74E2F49E2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2762250"/>
            <a:ext cx="4905375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contact details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4BA182C4-B00C-4B88-8A91-894F590D9741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91275" y="1952625"/>
            <a:ext cx="52006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Support us</a:t>
            </a:r>
          </a:p>
        </p:txBody>
      </p:sp>
      <p:sp>
        <p:nvSpPr>
          <p:cNvPr id="5" name="placeholder_4">
            <a:extLst>
              <a:ext uri="{FF2B5EF4-FFF2-40B4-BE49-F238E27FC236}">
                <a16:creationId xmlns:a16="http://schemas.microsoft.com/office/drawing/2014/main" id="{27F71F92-56CD-44FD-A150-E0954966A6A8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91275" y="2952750"/>
            <a:ext cx="520065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support message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30707BE6-8EFE-4D43-A467-167E1DF2B673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34 Thank you — support W3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1971A4E-F0F0-4798-884B-D052A0AC01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placeholder_1">
            <a:extLst>
              <a:ext uri="{FF2B5EF4-FFF2-40B4-BE49-F238E27FC236}">
                <a16:creationId xmlns:a16="http://schemas.microsoft.com/office/drawing/2014/main" id="{6BBD518E-FA1E-4AEE-8436-467E5256E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075" y="1619250"/>
            <a:ext cx="4905375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Click to edit title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5D33BFE0-3224-4D8D-AE56-DD0BB8DD7A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0075" y="2762250"/>
            <a:ext cx="4905375" cy="34290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contact details</a:t>
            </a:r>
          </a:p>
        </p:txBody>
      </p:sp>
      <p:sp>
        <p:nvSpPr>
          <p:cNvPr id="4" name="placeholder_3">
            <a:extLst>
              <a:ext uri="{FF2B5EF4-FFF2-40B4-BE49-F238E27FC236}">
                <a16:creationId xmlns:a16="http://schemas.microsoft.com/office/drawing/2014/main" id="{66B5EF33-50D2-4D88-8ED5-83BE961A8314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391275" y="1952625"/>
            <a:ext cx="5200650" cy="952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defRPr sz="4226" b="1">
                <a:solidFill>
                  <a:schemeClr val="accent1"/>
                </a:solidFill>
              </a:defRPr>
            </a:lvl1pPr>
            <a:lvl2pPr algn="l">
              <a:defRPr sz="4226" b="1">
                <a:solidFill>
                  <a:schemeClr val="accent1"/>
                </a:solidFill>
              </a:defRPr>
            </a:lvl2pPr>
            <a:lvl3pPr algn="l">
              <a:defRPr sz="4226" b="1">
                <a:solidFill>
                  <a:schemeClr val="accent1"/>
                </a:solidFill>
              </a:defRPr>
            </a:lvl3pPr>
            <a:lvl4pPr algn="l">
              <a:defRPr sz="4226" b="1">
                <a:solidFill>
                  <a:schemeClr val="accent1"/>
                </a:solidFill>
              </a:defRPr>
            </a:lvl4pPr>
            <a:lvl5pPr algn="l">
              <a:defRPr sz="4226" b="1">
                <a:solidFill>
                  <a:schemeClr val="accent1"/>
                </a:solidFill>
              </a:defRPr>
            </a:lvl5pPr>
            <a:lvl6pPr algn="l">
              <a:defRPr sz="4226" b="1">
                <a:solidFill>
                  <a:schemeClr val="accent1"/>
                </a:solidFill>
              </a:defRPr>
            </a:lvl6pPr>
            <a:lvl7pPr algn="l">
              <a:defRPr sz="4226" b="1">
                <a:solidFill>
                  <a:schemeClr val="accent1"/>
                </a:solidFill>
              </a:defRPr>
            </a:lvl7pPr>
            <a:lvl8pPr algn="l">
              <a:defRPr sz="4226" b="1">
                <a:solidFill>
                  <a:schemeClr val="accent1"/>
                </a:solidFill>
              </a:defRPr>
            </a:lvl8pPr>
            <a:lvl9pPr algn="l"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Support W3C</a:t>
            </a:r>
          </a:p>
        </p:txBody>
      </p:sp>
      <p:sp>
        <p:nvSpPr>
          <p:cNvPr id="5" name="placeholder_4">
            <a:extLst>
              <a:ext uri="{FF2B5EF4-FFF2-40B4-BE49-F238E27FC236}">
                <a16:creationId xmlns:a16="http://schemas.microsoft.com/office/drawing/2014/main" id="{EDBF451C-411D-4174-A7C7-A541E19661CA}"/>
              </a:ext>
            </a:extLst>
          </p:cNvPr>
          <p:cNvSpPr>
            <a:spLocks noGrp="1"/>
          </p:cNvSpPr>
          <p:nvPr>
            <p:ph type="body" idx="3"/>
          </p:nvPr>
        </p:nvSpPr>
        <p:spPr>
          <a:xfrm>
            <a:off x="6391275" y="2952750"/>
            <a:ext cx="5200650" cy="3238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2348" b="0">
                <a:solidFill>
                  <a:schemeClr val="tx1"/>
                </a:solidFill>
              </a:defRPr>
            </a:defPPr>
            <a:lvl1pPr algn="l">
              <a:defRPr sz="2348" b="0">
                <a:solidFill>
                  <a:schemeClr val="tx1"/>
                </a:solidFill>
              </a:defRPr>
            </a:lvl1pPr>
            <a:lvl2pPr algn="l">
              <a:defRPr sz="2348" b="0">
                <a:solidFill>
                  <a:schemeClr val="tx1"/>
                </a:solidFill>
              </a:defRPr>
            </a:lvl2pPr>
            <a:lvl3pPr algn="l">
              <a:defRPr sz="2348" b="0">
                <a:solidFill>
                  <a:schemeClr val="tx1"/>
                </a:solidFill>
              </a:defRPr>
            </a:lvl3pPr>
            <a:lvl4pPr algn="l">
              <a:defRPr sz="2348" b="0">
                <a:solidFill>
                  <a:schemeClr val="tx1"/>
                </a:solidFill>
              </a:defRPr>
            </a:lvl4pPr>
            <a:lvl5pPr algn="l">
              <a:defRPr sz="2348" b="0">
                <a:solidFill>
                  <a:schemeClr val="tx1"/>
                </a:solidFill>
              </a:defRPr>
            </a:lvl5pPr>
            <a:lvl6pPr algn="l">
              <a:defRPr sz="2348" b="0">
                <a:solidFill>
                  <a:schemeClr val="tx1"/>
                </a:solidFill>
              </a:defRPr>
            </a:lvl6pPr>
            <a:lvl7pPr algn="l">
              <a:defRPr sz="2348" b="0">
                <a:solidFill>
                  <a:schemeClr val="tx1"/>
                </a:solidFill>
              </a:defRPr>
            </a:lvl7pPr>
            <a:lvl8pPr algn="l">
              <a:defRPr sz="2348" b="0">
                <a:solidFill>
                  <a:schemeClr val="tx1"/>
                </a:solidFill>
              </a:defRPr>
            </a:lvl8pPr>
            <a:lvl9pPr algn="l">
              <a:defRPr sz="2348" b="0">
                <a:solidFill>
                  <a:schemeClr val="tx1"/>
                </a:solidFill>
              </a:defRPr>
            </a:lvl9pPr>
          </a:lstStyle>
          <a:p>
            <a:pPr algn="l">
              <a:defRPr sz="2348" b="0">
                <a:solidFill>
                  <a:schemeClr val="tx1"/>
                </a:solidFill>
              </a:defRPr>
            </a:pPr>
            <a:r>
              <a:rPr sz="2348" b="0">
                <a:solidFill>
                  <a:schemeClr val="tx1"/>
                </a:solidFill>
              </a:rPr>
              <a:t>Click to edit support message</a:t>
            </a:r>
          </a:p>
        </p:txBody>
      </p:sp>
      <p:sp>
        <p:nvSpPr>
          <p:cNvPr id="909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6715DFB8-1D50-4B48-823C-65B0C7CC05A1}" type="slidenum">
              <a:rPr lang="en-US" sz="1875" b="1">
                <a:solidFill>
                  <a:srgbClr val="FAFAFA"/>
                </a:solidFill>
                <a:latin typeface="+mn-lt"/>
              </a:rPr>
              <a:t>‹#›</a:t>
            </a:fld>
            <a:endParaRPr lang="en-US"/>
          </a:p>
        </p:txBody>
      </p:sp>
    </p:spTree>
  </p:cSld>
  <p:clrMapOvr>
    <a:masterClrMapping/>
  </p:clrMapOvr>
  <p:hf hdr="0" ftr="0" dt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E9BD4470-5CA8-EE52-6929-CDC9A408390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05956" y="900385"/>
            <a:ext cx="9913307" cy="783449"/>
          </a:xfrm>
        </p:spPr>
        <p:txBody>
          <a:bodyPr/>
          <a:lstStyle>
            <a:lvl1pPr>
              <a:defRPr>
                <a:solidFill>
                  <a:srgbClr val="706899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defRPr>
            </a:lvl1pPr>
          </a:lstStyle>
          <a:p>
            <a:r>
              <a:rPr lang="en-US" b="1" dirty="0">
                <a:latin typeface="Montserrat Black" pitchFamily="2" charset="77"/>
              </a:rPr>
              <a:t>Title Slide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56C291B6-C80E-2C58-ABFE-AA02282AB3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5956" y="1795346"/>
            <a:ext cx="9913308" cy="4916876"/>
          </a:xfrm>
        </p:spPr>
        <p:txBody>
          <a:bodyPr/>
          <a:lstStyle/>
          <a:p>
            <a:r>
              <a:rPr lang="en-US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Blah blah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FEDFA64-1A6F-67F3-33F1-0E947CBB15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-2" y="-2"/>
            <a:ext cx="12216498" cy="6861600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45CE807-78FE-B1F4-1DFA-A5EC2FB2F9F6}"/>
              </a:ext>
            </a:extLst>
          </p:cNvPr>
          <p:cNvSpPr txBox="1">
            <a:spLocks/>
          </p:cNvSpPr>
          <p:nvPr userDrawn="1"/>
        </p:nvSpPr>
        <p:spPr>
          <a:xfrm>
            <a:off x="236256" y="6190983"/>
            <a:ext cx="324001" cy="365125"/>
          </a:xfrm>
          <a:prstGeom prst="rect">
            <a:avLst/>
          </a:prstGeom>
        </p:spPr>
        <p:txBody>
          <a:bodyPr vert="horz" wrap="none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19562275-DD78-564A-A3A6-1721463F4093}" type="slidenum">
              <a:rPr lang="en-US" sz="2000" b="0" smtClean="0">
                <a:solidFill>
                  <a:schemeClr val="tx1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pPr algn="ctr"/>
              <a:t>‹#›</a:t>
            </a:fld>
            <a:endParaRPr lang="en-US" sz="1400" b="0" dirty="0">
              <a:solidFill>
                <a:schemeClr val="tx1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5687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W3C TPAC 202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00" name="W3C common background artwork">
            <a:extLst>
              <a:ext uri="{FF2B5EF4-FFF2-40B4-BE49-F238E27FC236}">
                <a16:creationId xmlns:a16="http://schemas.microsoft.com/office/drawing/2014/main" id="{CF21D303-831D-4840-A288-5A856BF5CFD9}"/>
              </a:ext>
            </a:extLst>
          </p:cNvPr>
          <p:cNvPicPr>
            <a:picLocks noChangeAspect="1"/>
          </p:cNvPicPr>
          <p:nvPr/>
        </p:nvPicPr>
        <p:blipFill>
          <a:blip r:embed="rId37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  <p:sldLayoutId id="2147483657" r:id="rId2"/>
    <p:sldLayoutId id="2147483658" r:id="rId3"/>
    <p:sldLayoutId id="2147483659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  <p:sldLayoutId id="2147483666" r:id="rId11"/>
    <p:sldLayoutId id="2147483667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690" r:id="rId3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bit.ly/webagents-interop" TargetMode="Externa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3ctag.github.io/user-agents/" TargetMode="Externa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arxiv.org/abs/2309.02427" TargetMode="Externa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modelcontextprotocol.io/specification/2025-06-18/architecture#core-components" TargetMode="Externa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2E0B2FAC-5C81-4A4B-9EFF-D2E3CC595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6250" y="361507"/>
            <a:ext cx="11239500" cy="120059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4226" b="1">
                <a:solidFill>
                  <a:srgbClr val="0D3020"/>
                </a:solidFill>
              </a:defRPr>
            </a:defPPr>
            <a:lvl1pPr algn="ctr">
              <a:buNone/>
              <a:defRPr sz="4226" b="1">
                <a:solidFill>
                  <a:srgbClr val="0D3020"/>
                </a:solidFill>
              </a:defRPr>
            </a:lvl1pPr>
            <a:lvl2pPr algn="ctr">
              <a:buNone/>
              <a:defRPr sz="4226" b="1">
                <a:solidFill>
                  <a:srgbClr val="0D3020"/>
                </a:solidFill>
              </a:defRPr>
            </a:lvl2pPr>
            <a:lvl3pPr algn="ctr">
              <a:buNone/>
              <a:defRPr sz="4226" b="1">
                <a:solidFill>
                  <a:srgbClr val="0D3020"/>
                </a:solidFill>
              </a:defRPr>
            </a:lvl3pPr>
            <a:lvl4pPr algn="ctr">
              <a:buNone/>
              <a:defRPr sz="4226" b="1">
                <a:solidFill>
                  <a:srgbClr val="0D3020"/>
                </a:solidFill>
              </a:defRPr>
            </a:lvl4pPr>
            <a:lvl5pPr algn="ctr">
              <a:buNone/>
              <a:defRPr sz="4226" b="1">
                <a:solidFill>
                  <a:srgbClr val="0D3020"/>
                </a:solidFill>
              </a:defRPr>
            </a:lvl5pPr>
            <a:lvl6pPr algn="ctr">
              <a:buNone/>
              <a:defRPr sz="4226" b="1">
                <a:solidFill>
                  <a:srgbClr val="0D3020"/>
                </a:solidFill>
              </a:defRPr>
            </a:lvl6pPr>
            <a:lvl7pPr algn="ctr">
              <a:buNone/>
              <a:defRPr sz="4226" b="1">
                <a:solidFill>
                  <a:srgbClr val="0D3020"/>
                </a:solidFill>
              </a:defRPr>
            </a:lvl7pPr>
            <a:lvl8pPr algn="ctr">
              <a:buNone/>
              <a:defRPr sz="4226" b="1">
                <a:solidFill>
                  <a:srgbClr val="0D3020"/>
                </a:solidFill>
              </a:defRPr>
            </a:lvl8pPr>
            <a:lvl9pPr algn="ctr">
              <a:buNone/>
              <a:defRPr sz="4226" b="1">
                <a:solidFill>
                  <a:srgbClr val="0D3020"/>
                </a:solidFill>
              </a:defRPr>
            </a:lvl9pPr>
          </a:lstStyle>
          <a:p>
            <a:pPr algn="ctr">
              <a:buNone/>
              <a:defRPr sz="4226" b="1">
                <a:solidFill>
                  <a:srgbClr val="0D3020"/>
                </a:solidFill>
              </a:defRPr>
            </a:pPr>
            <a:r>
              <a:rPr lang="en-IE" sz="4226" b="1" dirty="0">
                <a:solidFill>
                  <a:srgbClr val="0D3020"/>
                </a:solidFill>
              </a:rPr>
              <a:t>W3C Agents on The Web (</a:t>
            </a:r>
            <a:r>
              <a:rPr lang="en-IE" sz="4226" b="1" dirty="0" err="1">
                <a:solidFill>
                  <a:srgbClr val="0D3020"/>
                </a:solidFill>
              </a:rPr>
              <a:t>WebAgents</a:t>
            </a:r>
            <a:r>
              <a:rPr lang="en-IE" sz="4226" b="1" dirty="0">
                <a:solidFill>
                  <a:srgbClr val="0D3020"/>
                </a:solidFill>
              </a:rPr>
              <a:t>) CG</a:t>
            </a:r>
            <a:br>
              <a:rPr lang="en-IE" sz="4226" b="1" dirty="0">
                <a:solidFill>
                  <a:srgbClr val="0D3020"/>
                </a:solidFill>
              </a:rPr>
            </a:br>
            <a:r>
              <a:rPr sz="4226" b="1" i="1" dirty="0">
                <a:solidFill>
                  <a:srgbClr val="0D3020"/>
                </a:solidFill>
              </a:rPr>
              <a:t>The Web as a Platform for Agents</a:t>
            </a:r>
          </a:p>
        </p:txBody>
      </p:sp>
      <p:sp>
        <p:nvSpPr>
          <p:cNvPr id="3" name="placeholder_2">
            <a:extLst>
              <a:ext uri="{FF2B5EF4-FFF2-40B4-BE49-F238E27FC236}">
                <a16:creationId xmlns:a16="http://schemas.microsoft.com/office/drawing/2014/main" id="{7E7C0DA9-78F0-4A55-8D7F-DC2635B30D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15000" y="2840640"/>
            <a:ext cx="5334000" cy="571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ctr">
              <a:defRPr sz="3285" b="0">
                <a:solidFill>
                  <a:srgbClr val="FFFFFF"/>
                </a:solidFill>
              </a:defRPr>
            </a:defPPr>
            <a:lvl1pPr algn="ctr">
              <a:buNone/>
              <a:defRPr sz="3285" b="0">
                <a:solidFill>
                  <a:srgbClr val="FFFFFF"/>
                </a:solidFill>
              </a:defRPr>
            </a:lvl1pPr>
            <a:lvl2pPr algn="ctr">
              <a:buNone/>
              <a:defRPr sz="3285" b="0">
                <a:solidFill>
                  <a:srgbClr val="FFFFFF"/>
                </a:solidFill>
              </a:defRPr>
            </a:lvl2pPr>
            <a:lvl3pPr algn="ctr">
              <a:buNone/>
              <a:defRPr sz="3285" b="0">
                <a:solidFill>
                  <a:srgbClr val="FFFFFF"/>
                </a:solidFill>
              </a:defRPr>
            </a:lvl3pPr>
            <a:lvl4pPr algn="ctr">
              <a:buNone/>
              <a:defRPr sz="3285" b="0">
                <a:solidFill>
                  <a:srgbClr val="FFFFFF"/>
                </a:solidFill>
              </a:defRPr>
            </a:lvl4pPr>
            <a:lvl5pPr algn="ctr">
              <a:buNone/>
              <a:defRPr sz="3285" b="0">
                <a:solidFill>
                  <a:srgbClr val="FFFFFF"/>
                </a:solidFill>
              </a:defRPr>
            </a:lvl5pPr>
            <a:lvl6pPr algn="ctr">
              <a:buNone/>
              <a:defRPr sz="3285" b="0">
                <a:solidFill>
                  <a:srgbClr val="FFFFFF"/>
                </a:solidFill>
              </a:defRPr>
            </a:lvl6pPr>
            <a:lvl7pPr algn="ctr">
              <a:buNone/>
              <a:defRPr sz="3285" b="0">
                <a:solidFill>
                  <a:srgbClr val="FFFFFF"/>
                </a:solidFill>
              </a:defRPr>
            </a:lvl7pPr>
            <a:lvl8pPr algn="ctr">
              <a:buNone/>
              <a:defRPr sz="3285" b="0">
                <a:solidFill>
                  <a:srgbClr val="FFFFFF"/>
                </a:solidFill>
              </a:defRPr>
            </a:lvl8pPr>
            <a:lvl9pPr algn="ctr">
              <a:buNone/>
              <a:defRPr sz="3285" b="0">
                <a:solidFill>
                  <a:srgbClr val="FFFFFF"/>
                </a:solidFill>
              </a:defRPr>
            </a:lvl9pPr>
          </a:lstStyle>
          <a:p>
            <a:pPr marL="0" indent="0" algn="ctr">
              <a:buNone/>
              <a:defRPr sz="3285" b="0">
                <a:solidFill>
                  <a:srgbClr val="FFFFFF"/>
                </a:solidFill>
              </a:defRPr>
            </a:pPr>
            <a:r>
              <a:rPr lang="en-IE" sz="2400" b="0" dirty="0">
                <a:solidFill>
                  <a:srgbClr val="FFFFFF"/>
                </a:solidFill>
              </a:rPr>
              <a:t>Andrei </a:t>
            </a:r>
            <a:r>
              <a:rPr lang="en-IE" sz="2400" b="0" dirty="0" err="1">
                <a:solidFill>
                  <a:srgbClr val="FFFFFF"/>
                </a:solidFill>
              </a:rPr>
              <a:t>Ciortea</a:t>
            </a:r>
            <a:r>
              <a:rPr lang="en-IE" sz="2400" b="0" dirty="0">
                <a:solidFill>
                  <a:srgbClr val="FFFFFF"/>
                </a:solidFill>
              </a:rPr>
              <a:t>, </a:t>
            </a:r>
            <a:r>
              <a:rPr lang="en-IE" sz="2400" b="1" dirty="0">
                <a:solidFill>
                  <a:srgbClr val="FFFFFF"/>
                </a:solidFill>
              </a:rPr>
              <a:t>Rem Collier</a:t>
            </a:r>
            <a:r>
              <a:rPr lang="en-IE" sz="2400" b="0" dirty="0">
                <a:solidFill>
                  <a:srgbClr val="FFFFFF"/>
                </a:solidFill>
              </a:rPr>
              <a:t>, Ege </a:t>
            </a:r>
            <a:r>
              <a:rPr lang="en-IE" sz="2400" b="0" dirty="0" err="1">
                <a:solidFill>
                  <a:srgbClr val="FFFFFF"/>
                </a:solidFill>
              </a:rPr>
              <a:t>Korkan</a:t>
            </a:r>
            <a:r>
              <a:rPr lang="en-IE" sz="2400" b="0" dirty="0">
                <a:solidFill>
                  <a:srgbClr val="FFFFFF"/>
                </a:solidFill>
              </a:rPr>
              <a:t>, and Antoine Zimmermann</a:t>
            </a:r>
            <a:endParaRPr sz="2400" b="0" dirty="0">
              <a:solidFill>
                <a:srgbClr val="FFFFFF"/>
              </a:solidFill>
            </a:endParaRPr>
          </a:p>
        </p:txBody>
      </p:sp>
      <p:sp>
        <p:nvSpPr>
          <p:cNvPr id="4" name="cover_subtitle">
            <a:extLst>
              <a:ext uri="{FF2B5EF4-FFF2-40B4-BE49-F238E27FC236}">
                <a16:creationId xmlns:a16="http://schemas.microsoft.com/office/drawing/2014/main" id="{D9A1828B-0438-4786-9576-FBFF4912D981}"/>
              </a:ext>
            </a:extLst>
          </p:cNvPr>
          <p:cNvSpPr>
            <a:spLocks noGrp="1"/>
          </p:cNvSpPr>
          <p:nvPr/>
        </p:nvSpPr>
        <p:spPr>
          <a:xfrm>
            <a:off x="762000" y="16002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250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Architectural design ideas from the </a:t>
            </a:r>
            <a:r>
              <a:rPr lang="en-IE" sz="2250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Interoperability </a:t>
            </a:r>
            <a:r>
              <a:rPr sz="2250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Report</a:t>
            </a:r>
          </a:p>
        </p:txBody>
      </p:sp>
    </p:spTree>
    <p:extLst>
      <p:ext uri="{BB962C8B-B14F-4D97-AF65-F5344CB8AC3E}">
        <p14:creationId xmlns:p14="http://schemas.microsoft.com/office/powerpoint/2010/main" val="1653383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DC1B5-7FBA-D865-AC88-29DFE6954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Interoperability Report</a:t>
            </a:r>
            <a:br>
              <a:rPr lang="en-US" dirty="0"/>
            </a:b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352827-6805-2C68-7052-A009863F0CB2}"/>
              </a:ext>
            </a:extLst>
          </p:cNvPr>
          <p:cNvSpPr>
            <a:spLocks noGrp="1"/>
          </p:cNvSpPr>
          <p:nvPr>
            <p:ph type="sldNum" idx="90"/>
          </p:nvPr>
        </p:nvSpPr>
        <p:spPr/>
        <p:txBody>
          <a:bodyPr/>
          <a:lstStyle/>
          <a:p>
            <a:pPr algn="ctr"/>
            <a:fld id="{C8C132A9-93B1-4486-AF18-204BA7BC60A7}" type="slidenum">
              <a:rPr lang="en-US" sz="1875" b="1" smtClean="0">
                <a:solidFill>
                  <a:srgbClr val="FAFAFA"/>
                </a:solidFill>
                <a:latin typeface="+mn-lt"/>
              </a:rPr>
              <a:t>2</a:t>
            </a:fld>
            <a:endParaRPr lang="en-US" dirty="0"/>
          </a:p>
        </p:txBody>
      </p:sp>
      <p:pic>
        <p:nvPicPr>
          <p:cNvPr id="5" name="Picture 4" descr="A screenshot of a computer  AI-generated content may be incorrect.">
            <a:extLst>
              <a:ext uri="{FF2B5EF4-FFF2-40B4-BE49-F238E27FC236}">
                <a16:creationId xmlns:a16="http://schemas.microsoft.com/office/drawing/2014/main" id="{217E26C2-DE2E-E71F-18A2-DD2EE408F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84" y="1963792"/>
            <a:ext cx="8361725" cy="420120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Rechteck: abgerundete Ecken 3">
            <a:extLst>
              <a:ext uri="{FF2B5EF4-FFF2-40B4-BE49-F238E27FC236}">
                <a16:creationId xmlns:a16="http://schemas.microsoft.com/office/drawing/2014/main" id="{6217270B-1DBB-0059-9541-FC81D6E27E0F}"/>
              </a:ext>
            </a:extLst>
          </p:cNvPr>
          <p:cNvSpPr/>
          <p:nvPr/>
        </p:nvSpPr>
        <p:spPr>
          <a:xfrm>
            <a:off x="6567328" y="4296087"/>
            <a:ext cx="4862671" cy="759267"/>
          </a:xfrm>
          <a:prstGeom prst="roundRect">
            <a:avLst>
              <a:gd name="adj" fmla="val 24345"/>
            </a:avLst>
          </a:prstGeom>
          <a:solidFill>
            <a:schemeClr val="accent4"/>
          </a:solidFill>
          <a:ln>
            <a:solidFill>
              <a:srgbClr val="706899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E" noProof="0" dirty="0">
                <a:solidFill>
                  <a:schemeClr val="bg1"/>
                </a:solidFill>
              </a:rPr>
              <a:t>What should be the </a:t>
            </a:r>
            <a:r>
              <a:rPr lang="en-IE" b="1" noProof="0" dirty="0">
                <a:solidFill>
                  <a:schemeClr val="bg1"/>
                </a:solidFill>
              </a:rPr>
              <a:t>role of the Web</a:t>
            </a:r>
            <a:r>
              <a:rPr lang="en-IE" noProof="0" dirty="0">
                <a:solidFill>
                  <a:schemeClr val="bg1"/>
                </a:solidFill>
              </a:rPr>
              <a:t> in </a:t>
            </a:r>
            <a:br>
              <a:rPr lang="en-IE" noProof="0" dirty="0">
                <a:solidFill>
                  <a:schemeClr val="bg1"/>
                </a:solidFill>
              </a:rPr>
            </a:br>
            <a:r>
              <a:rPr lang="en-IE" noProof="0" dirty="0">
                <a:solidFill>
                  <a:schemeClr val="bg1"/>
                </a:solidFill>
              </a:rPr>
              <a:t>the emerging landscape of Agentic AI?</a:t>
            </a:r>
            <a:endParaRPr lang="en-IE" sz="1600" noProof="0" dirty="0">
              <a:solidFill>
                <a:schemeClr val="bg1"/>
              </a:solidFill>
            </a:endParaRPr>
          </a:p>
        </p:txBody>
      </p:sp>
      <p:sp>
        <p:nvSpPr>
          <p:cNvPr id="8" name="Rechteck: abgerundete Ecken 3">
            <a:extLst>
              <a:ext uri="{FF2B5EF4-FFF2-40B4-BE49-F238E27FC236}">
                <a16:creationId xmlns:a16="http://schemas.microsoft.com/office/drawing/2014/main" id="{45DE5AEB-5C28-4327-929C-B1468C968119}"/>
              </a:ext>
            </a:extLst>
          </p:cNvPr>
          <p:cNvSpPr/>
          <p:nvPr/>
        </p:nvSpPr>
        <p:spPr>
          <a:xfrm>
            <a:off x="6567328" y="5103201"/>
            <a:ext cx="4862670" cy="759267"/>
          </a:xfrm>
          <a:prstGeom prst="roundRect">
            <a:avLst>
              <a:gd name="adj" fmla="val 24345"/>
            </a:avLst>
          </a:prstGeom>
          <a:solidFill>
            <a:schemeClr val="accent4"/>
          </a:solidFill>
          <a:ln>
            <a:solidFill>
              <a:srgbClr val="706899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E" noProof="0" dirty="0">
                <a:solidFill>
                  <a:schemeClr val="bg1"/>
                </a:solidFill>
              </a:rPr>
              <a:t>What are the </a:t>
            </a:r>
            <a:r>
              <a:rPr lang="en-IE" b="1" noProof="0" dirty="0">
                <a:solidFill>
                  <a:schemeClr val="bg1"/>
                </a:solidFill>
              </a:rPr>
              <a:t>relevant standards</a:t>
            </a:r>
            <a:r>
              <a:rPr lang="en-IE" noProof="0" dirty="0">
                <a:solidFill>
                  <a:schemeClr val="bg1"/>
                </a:solidFill>
              </a:rPr>
              <a:t> within </a:t>
            </a:r>
            <a:br>
              <a:rPr lang="en-IE" noProof="0" dirty="0">
                <a:solidFill>
                  <a:schemeClr val="bg1"/>
                </a:solidFill>
              </a:rPr>
            </a:br>
            <a:r>
              <a:rPr lang="en-IE" noProof="0" dirty="0">
                <a:solidFill>
                  <a:schemeClr val="bg1"/>
                </a:solidFill>
              </a:rPr>
              <a:t>and maybe also outside the W3C?</a:t>
            </a:r>
            <a:endParaRPr lang="en-IE" sz="1600" noProof="0" dirty="0">
              <a:solidFill>
                <a:schemeClr val="bg1"/>
              </a:solidFill>
            </a:endParaRPr>
          </a:p>
        </p:txBody>
      </p:sp>
      <p:sp>
        <p:nvSpPr>
          <p:cNvPr id="9" name="Rechteck: abgerundete Ecken 3">
            <a:extLst>
              <a:ext uri="{FF2B5EF4-FFF2-40B4-BE49-F238E27FC236}">
                <a16:creationId xmlns:a16="http://schemas.microsoft.com/office/drawing/2014/main" id="{C0CB4FA7-AD8D-65DD-5B62-83284BC86708}"/>
              </a:ext>
            </a:extLst>
          </p:cNvPr>
          <p:cNvSpPr/>
          <p:nvPr/>
        </p:nvSpPr>
        <p:spPr>
          <a:xfrm>
            <a:off x="6567327" y="5910316"/>
            <a:ext cx="4862670" cy="759267"/>
          </a:xfrm>
          <a:prstGeom prst="roundRect">
            <a:avLst>
              <a:gd name="adj" fmla="val 24345"/>
            </a:avLst>
          </a:prstGeom>
          <a:solidFill>
            <a:schemeClr val="accent4"/>
          </a:solidFill>
          <a:ln>
            <a:solidFill>
              <a:srgbClr val="706899"/>
            </a:solidFill>
          </a:ln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IE" noProof="0" dirty="0">
                <a:solidFill>
                  <a:schemeClr val="bg1"/>
                </a:solidFill>
              </a:rPr>
              <a:t>What are the </a:t>
            </a:r>
            <a:r>
              <a:rPr lang="en-IE" b="1" noProof="0" dirty="0">
                <a:solidFill>
                  <a:schemeClr val="bg1"/>
                </a:solidFill>
              </a:rPr>
              <a:t>standardization gaps</a:t>
            </a:r>
            <a:br>
              <a:rPr lang="en-IE" b="1" noProof="0" dirty="0">
                <a:solidFill>
                  <a:schemeClr val="bg1"/>
                </a:solidFill>
              </a:rPr>
            </a:br>
            <a:r>
              <a:rPr lang="en-IE" noProof="0" dirty="0">
                <a:solidFill>
                  <a:schemeClr val="bg1"/>
                </a:solidFill>
              </a:rPr>
              <a:t>(if any)?</a:t>
            </a:r>
            <a:endParaRPr lang="en-IE" sz="1600" noProof="0" dirty="0">
              <a:solidFill>
                <a:schemeClr val="bg1"/>
              </a:solidFill>
            </a:endParaRP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ED473484-F37E-0DDE-D6AB-0968E56F99C5}"/>
              </a:ext>
            </a:extLst>
          </p:cNvPr>
          <p:cNvGrpSpPr/>
          <p:nvPr/>
        </p:nvGrpSpPr>
        <p:grpSpPr>
          <a:xfrm>
            <a:off x="9053169" y="1963792"/>
            <a:ext cx="2470516" cy="2071631"/>
            <a:chOff x="9621879" y="1963792"/>
            <a:chExt cx="2470516" cy="2071631"/>
          </a:xfrm>
        </p:grpSpPr>
        <p:pic>
          <p:nvPicPr>
            <p:cNvPr id="11" name="Picture 10" descr="A qr code on a white background  AI-generated content may be incorrect.">
              <a:extLst>
                <a:ext uri="{FF2B5EF4-FFF2-40B4-BE49-F238E27FC236}">
                  <a16:creationId xmlns:a16="http://schemas.microsoft.com/office/drawing/2014/main" id="{E8118031-CC2F-05C9-5DAF-EA8EC6E51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867137" y="1963792"/>
              <a:ext cx="1980000" cy="1980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A9DD508-EFE6-0A36-B6F9-DB959011C351}"/>
                </a:ext>
              </a:extLst>
            </p:cNvPr>
            <p:cNvSpPr txBox="1"/>
            <p:nvPr/>
          </p:nvSpPr>
          <p:spPr>
            <a:xfrm>
              <a:off x="9621879" y="3855199"/>
              <a:ext cx="2470516" cy="18022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vert="horz" wrap="none" lIns="0" tIns="0" rIns="0" bIns="0" numCol="1" rtlCol="0" anchor="t" anchorCtr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en-US" sz="9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hlinkClick r:id="rId5"/>
                </a:rPr>
                <a:t>https://bit.ly/webagents-interop</a:t>
              </a:r>
              <a:endParaRPr lang="en-US" sz="9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C4C10E8-CBD2-7DAF-7227-766719C3C5AB}"/>
              </a:ext>
            </a:extLst>
          </p:cNvPr>
          <p:cNvSpPr/>
          <p:nvPr/>
        </p:nvSpPr>
        <p:spPr>
          <a:xfrm>
            <a:off x="600075" y="4675721"/>
            <a:ext cx="2188448" cy="63106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12350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531E14-E872-A5A6-DC8C-A3E6812D8F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47EF2982-FA19-A705-E09C-99A2076DF18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lang="en-IE" sz="4226" b="1" dirty="0">
                <a:solidFill>
                  <a:schemeClr val="accent1"/>
                </a:solidFill>
              </a:rPr>
              <a:t>A Layered View of Multi-Agent Systems</a:t>
            </a:r>
            <a:endParaRPr sz="4226" b="1" dirty="0">
              <a:solidFill>
                <a:schemeClr val="accent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538FB5C-FBFB-7834-1A40-599DB7696F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635652" y="1828800"/>
            <a:ext cx="5205696" cy="4381500"/>
          </a:xfrm>
          <a:prstGeom prst="rect">
            <a:avLst/>
          </a:prstGeom>
        </p:spPr>
      </p:pic>
      <p:sp>
        <p:nvSpPr>
          <p:cNvPr id="5" name="dimension_0">
            <a:extLst>
              <a:ext uri="{FF2B5EF4-FFF2-40B4-BE49-F238E27FC236}">
                <a16:creationId xmlns:a16="http://schemas.microsoft.com/office/drawing/2014/main" id="{2B98BFF1-D9C6-713D-4990-1DF06AB05219}"/>
              </a:ext>
            </a:extLst>
          </p:cNvPr>
          <p:cNvSpPr>
            <a:spLocks noGrp="1"/>
          </p:cNvSpPr>
          <p:nvPr/>
        </p:nvSpPr>
        <p:spPr>
          <a:xfrm>
            <a:off x="6524625" y="190500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Agents</a:t>
            </a:r>
          </a:p>
        </p:txBody>
      </p:sp>
      <p:sp>
        <p:nvSpPr>
          <p:cNvPr id="6" name="dimension_desc_0">
            <a:extLst>
              <a:ext uri="{FF2B5EF4-FFF2-40B4-BE49-F238E27FC236}">
                <a16:creationId xmlns:a16="http://schemas.microsoft.com/office/drawing/2014/main" id="{C84E3520-8811-EC39-2993-17464124F4F2}"/>
              </a:ext>
            </a:extLst>
          </p:cNvPr>
          <p:cNvSpPr>
            <a:spLocks noGrp="1"/>
          </p:cNvSpPr>
          <p:nvPr/>
        </p:nvSpPr>
        <p:spPr>
          <a:xfrm>
            <a:off x="6524625" y="2362200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Goals, reasoning and autonomy</a:t>
            </a:r>
          </a:p>
        </p:txBody>
      </p:sp>
      <p:sp>
        <p:nvSpPr>
          <p:cNvPr id="7" name="dimension_1">
            <a:extLst>
              <a:ext uri="{FF2B5EF4-FFF2-40B4-BE49-F238E27FC236}">
                <a16:creationId xmlns:a16="http://schemas.microsoft.com/office/drawing/2014/main" id="{C3263274-AF6E-B2D4-E39D-4B19DA1F0B07}"/>
              </a:ext>
            </a:extLst>
          </p:cNvPr>
          <p:cNvSpPr>
            <a:spLocks noGrp="1"/>
          </p:cNvSpPr>
          <p:nvPr/>
        </p:nvSpPr>
        <p:spPr>
          <a:xfrm>
            <a:off x="6524625" y="2943225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Environment</a:t>
            </a:r>
          </a:p>
        </p:txBody>
      </p:sp>
      <p:sp>
        <p:nvSpPr>
          <p:cNvPr id="8" name="dimension_desc_1">
            <a:extLst>
              <a:ext uri="{FF2B5EF4-FFF2-40B4-BE49-F238E27FC236}">
                <a16:creationId xmlns:a16="http://schemas.microsoft.com/office/drawing/2014/main" id="{07B23BD6-EFE3-14D3-53A1-BE82BC300882}"/>
              </a:ext>
            </a:extLst>
          </p:cNvPr>
          <p:cNvSpPr>
            <a:spLocks noGrp="1"/>
          </p:cNvSpPr>
          <p:nvPr/>
        </p:nvSpPr>
        <p:spPr>
          <a:xfrm>
            <a:off x="6524625" y="340042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Resources, state and controls</a:t>
            </a:r>
          </a:p>
        </p:txBody>
      </p:sp>
      <p:sp>
        <p:nvSpPr>
          <p:cNvPr id="9" name="dimension_2">
            <a:extLst>
              <a:ext uri="{FF2B5EF4-FFF2-40B4-BE49-F238E27FC236}">
                <a16:creationId xmlns:a16="http://schemas.microsoft.com/office/drawing/2014/main" id="{2D658E52-370C-6303-B2DF-651D1777E200}"/>
              </a:ext>
            </a:extLst>
          </p:cNvPr>
          <p:cNvSpPr>
            <a:spLocks noGrp="1"/>
          </p:cNvSpPr>
          <p:nvPr/>
        </p:nvSpPr>
        <p:spPr>
          <a:xfrm>
            <a:off x="6524625" y="3981450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Interaction</a:t>
            </a:r>
          </a:p>
        </p:txBody>
      </p:sp>
      <p:sp>
        <p:nvSpPr>
          <p:cNvPr id="10" name="dimension_desc_2">
            <a:extLst>
              <a:ext uri="{FF2B5EF4-FFF2-40B4-BE49-F238E27FC236}">
                <a16:creationId xmlns:a16="http://schemas.microsoft.com/office/drawing/2014/main" id="{7DAF1DCB-F895-A093-7051-9F3629C9B63B}"/>
              </a:ext>
            </a:extLst>
          </p:cNvPr>
          <p:cNvSpPr>
            <a:spLocks noGrp="1"/>
          </p:cNvSpPr>
          <p:nvPr/>
        </p:nvSpPr>
        <p:spPr>
          <a:xfrm>
            <a:off x="6524625" y="4438650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Messages and coordination</a:t>
            </a:r>
          </a:p>
        </p:txBody>
      </p:sp>
      <p:sp>
        <p:nvSpPr>
          <p:cNvPr id="11" name="dimension_3">
            <a:extLst>
              <a:ext uri="{FF2B5EF4-FFF2-40B4-BE49-F238E27FC236}">
                <a16:creationId xmlns:a16="http://schemas.microsoft.com/office/drawing/2014/main" id="{F54996C6-D24E-E58C-1C44-CF24B1086A61}"/>
              </a:ext>
            </a:extLst>
          </p:cNvPr>
          <p:cNvSpPr>
            <a:spLocks noGrp="1"/>
          </p:cNvSpPr>
          <p:nvPr/>
        </p:nvSpPr>
        <p:spPr>
          <a:xfrm>
            <a:off x="6524625" y="5019675"/>
            <a:ext cx="48577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Organization</a:t>
            </a:r>
          </a:p>
        </p:txBody>
      </p:sp>
      <p:sp>
        <p:nvSpPr>
          <p:cNvPr id="12" name="dimension_desc_3">
            <a:extLst>
              <a:ext uri="{FF2B5EF4-FFF2-40B4-BE49-F238E27FC236}">
                <a16:creationId xmlns:a16="http://schemas.microsoft.com/office/drawing/2014/main" id="{5B5C8755-CDA1-1FEC-830F-99C5BF021AD8}"/>
              </a:ext>
            </a:extLst>
          </p:cNvPr>
          <p:cNvSpPr>
            <a:spLocks noGrp="1"/>
          </p:cNvSpPr>
          <p:nvPr/>
        </p:nvSpPr>
        <p:spPr>
          <a:xfrm>
            <a:off x="6524625" y="5476875"/>
            <a:ext cx="4857750" cy="5524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Roles, rules and commitments</a:t>
            </a:r>
          </a:p>
        </p:txBody>
      </p:sp>
      <p:sp>
        <p:nvSpPr>
          <p:cNvPr id="13" name="principles">
            <a:extLst>
              <a:ext uri="{FF2B5EF4-FFF2-40B4-BE49-F238E27FC236}">
                <a16:creationId xmlns:a16="http://schemas.microsoft.com/office/drawing/2014/main" id="{703FA24F-3291-F4EE-CDB6-6E74CCB21BD3}"/>
              </a:ext>
            </a:extLst>
          </p:cNvPr>
          <p:cNvSpPr>
            <a:spLocks noGrp="1"/>
          </p:cNvSpPr>
          <p:nvPr/>
        </p:nvSpPr>
        <p:spPr>
          <a:xfrm>
            <a:off x="619125" y="6381750"/>
            <a:ext cx="1095375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A shared lens for goals, architectural patterns and standards</a:t>
            </a:r>
          </a:p>
        </p:txBody>
      </p:sp>
      <p:sp>
        <p:nvSpPr>
          <p:cNvPr id="14" name="Slide number">
            <a:extLst>
              <a:ext uri="{FF2B5EF4-FFF2-40B4-BE49-F238E27FC236}">
                <a16:creationId xmlns:a16="http://schemas.microsoft.com/office/drawing/2014/main" id="{0C4E3C13-6DCA-0D83-1E4C-FB667FBE2D3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252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1DC322B7-C61E-FA35-7F2D-2C07A065E0C2}"/>
              </a:ext>
            </a:extLst>
          </p:cNvPr>
          <p:cNvGrpSpPr/>
          <p:nvPr/>
        </p:nvGrpSpPr>
        <p:grpSpPr>
          <a:xfrm>
            <a:off x="1088277" y="4406771"/>
            <a:ext cx="4288993" cy="2298240"/>
            <a:chOff x="1050177" y="4317871"/>
            <a:chExt cx="4288993" cy="2298240"/>
          </a:xfrm>
        </p:grpSpPr>
        <p:pic>
          <p:nvPicPr>
            <p:cNvPr id="30" name="Image 15" descr="agent.png">
              <a:extLst>
                <a:ext uri="{FF2B5EF4-FFF2-40B4-BE49-F238E27FC236}">
                  <a16:creationId xmlns:a16="http://schemas.microsoft.com/office/drawing/2014/main" id="{84EB63E7-3FB8-E8AA-915C-372E9B17E01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0177" y="4317871"/>
              <a:ext cx="4288993" cy="19834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20B93BE-7AB3-AF4D-E4FC-A816F7BEB381}"/>
                </a:ext>
              </a:extLst>
            </p:cNvPr>
            <p:cNvSpPr txBox="1"/>
            <p:nvPr/>
          </p:nvSpPr>
          <p:spPr>
            <a:xfrm>
              <a:off x="2304846" y="6308334"/>
              <a:ext cx="177965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</a:t>
              </a:r>
              <a:r>
                <a:rPr lang="en-US" sz="1400" dirty="0" err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Bordini</a:t>
              </a:r>
              <a:r>
                <a: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r>
                <a:rPr lang="en-US" sz="1400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et al.</a:t>
              </a:r>
              <a:r>
                <a:rPr lang="en-US" sz="14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2007]</a:t>
              </a: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320BBED-792A-30DB-EB63-9F898C52DD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Agent Design Goals: Agent Level</a:t>
            </a:r>
          </a:p>
        </p:txBody>
      </p:sp>
      <p:pic>
        <p:nvPicPr>
          <p:cNvPr id="6" name="Picture 5" descr="A screenshot of a web page  AI-generated content may be incorrect.">
            <a:extLst>
              <a:ext uri="{FF2B5EF4-FFF2-40B4-BE49-F238E27FC236}">
                <a16:creationId xmlns:a16="http://schemas.microsoft.com/office/drawing/2014/main" id="{64F462B0-9616-5FCE-E80E-88CE47AE0F6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1335" y="1594935"/>
            <a:ext cx="6893217" cy="2604104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8D76885-07F1-A805-2D3A-E198842D0773}"/>
              </a:ext>
            </a:extLst>
          </p:cNvPr>
          <p:cNvGrpSpPr/>
          <p:nvPr/>
        </p:nvGrpSpPr>
        <p:grpSpPr>
          <a:xfrm>
            <a:off x="5691322" y="4457695"/>
            <a:ext cx="6187243" cy="2190002"/>
            <a:chOff x="5966173" y="4610095"/>
            <a:chExt cx="6187243" cy="2190002"/>
          </a:xfrm>
        </p:grpSpPr>
        <p:pic>
          <p:nvPicPr>
            <p:cNvPr id="8" name="Picture 7" descr="A close-up of a web user  AI-generated content may be incorrect.">
              <a:extLst>
                <a:ext uri="{FF2B5EF4-FFF2-40B4-BE49-F238E27FC236}">
                  <a16:creationId xmlns:a16="http://schemas.microsoft.com/office/drawing/2014/main" id="{826A9D20-CF9D-C6A6-725C-6EC16711F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5966173" y="4610095"/>
              <a:ext cx="6187243" cy="1842321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6FBF3921-F401-F76C-3D08-6A4F2DC3C034}"/>
                </a:ext>
              </a:extLst>
            </p:cNvPr>
            <p:cNvSpPr txBox="1"/>
            <p:nvPr/>
          </p:nvSpPr>
          <p:spPr>
            <a:xfrm>
              <a:off x="7888640" y="6553876"/>
              <a:ext cx="23423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  <a:hlinkClick r:id="rId6"/>
                </a:rPr>
                <a:t>https://w3ctag.github.io/user-agents/</a:t>
              </a:r>
              <a:endPara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endParaRPr>
            </a:p>
          </p:txBody>
        </p: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FB2E8FC-38A5-E055-45EA-158111C4EE46}"/>
              </a:ext>
            </a:extLst>
          </p:cNvPr>
          <p:cNvGrpSpPr/>
          <p:nvPr/>
        </p:nvGrpSpPr>
        <p:grpSpPr>
          <a:xfrm>
            <a:off x="1677381" y="1994350"/>
            <a:ext cx="4914068" cy="540550"/>
            <a:chOff x="1677381" y="1994350"/>
            <a:chExt cx="4914068" cy="54055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3EA802D-FF8C-C8C1-2B31-2B854BAAD73E}"/>
                </a:ext>
              </a:extLst>
            </p:cNvPr>
            <p:cNvSpPr/>
            <p:nvPr/>
          </p:nvSpPr>
          <p:spPr>
            <a:xfrm>
              <a:off x="5440771" y="2235941"/>
              <a:ext cx="1150678" cy="2989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BA61DA1-28A9-04C1-062C-37D66E951631}"/>
                </a:ext>
              </a:extLst>
            </p:cNvPr>
            <p:cNvSpPr txBox="1"/>
            <p:nvPr/>
          </p:nvSpPr>
          <p:spPr>
            <a:xfrm>
              <a:off x="1677381" y="1994350"/>
              <a:ext cx="31486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Defining characteristic of agents</a:t>
              </a: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6D0008BF-53C3-928A-320C-CDF1B3FE4A06}"/>
                </a:ext>
              </a:extLst>
            </p:cNvPr>
            <p:cNvCxnSpPr>
              <a:cxnSpLocks/>
              <a:stCxn id="10" idx="1"/>
              <a:endCxn id="13" idx="3"/>
            </p:cNvCxnSpPr>
            <p:nvPr/>
          </p:nvCxnSpPr>
          <p:spPr>
            <a:xfrm flipH="1" flipV="1">
              <a:off x="4826000" y="2163627"/>
              <a:ext cx="614771" cy="22179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456ED568-1353-3ACF-B595-776C785D20AB}"/>
              </a:ext>
            </a:extLst>
          </p:cNvPr>
          <p:cNvGrpSpPr/>
          <p:nvPr/>
        </p:nvGrpSpPr>
        <p:grpSpPr>
          <a:xfrm>
            <a:off x="1092200" y="2705716"/>
            <a:ext cx="5499249" cy="584775"/>
            <a:chOff x="1092200" y="2705716"/>
            <a:chExt cx="5499249" cy="58477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860ED3F-A2C0-F943-82F3-46FA74604B84}"/>
                </a:ext>
              </a:extLst>
            </p:cNvPr>
            <p:cNvSpPr/>
            <p:nvPr/>
          </p:nvSpPr>
          <p:spPr>
            <a:xfrm>
              <a:off x="5440771" y="2794589"/>
              <a:ext cx="1150678" cy="2989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58C7FB5-DCC0-C326-B75F-BC79809B8003}"/>
                </a:ext>
              </a:extLst>
            </p:cNvPr>
            <p:cNvSpPr txBox="1"/>
            <p:nvPr/>
          </p:nvSpPr>
          <p:spPr>
            <a:xfrm>
              <a:off x="1092200" y="2705716"/>
              <a:ext cx="3733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Enables agents to discover and interact with one another on the open Web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1CBAF37B-DD80-C115-E5B0-FAB3E3C529CE}"/>
                </a:ext>
              </a:extLst>
            </p:cNvPr>
            <p:cNvCxnSpPr>
              <a:cxnSpLocks/>
              <a:stCxn id="11" idx="1"/>
              <a:endCxn id="14" idx="3"/>
            </p:cNvCxnSpPr>
            <p:nvPr/>
          </p:nvCxnSpPr>
          <p:spPr>
            <a:xfrm flipH="1">
              <a:off x="4826000" y="2944069"/>
              <a:ext cx="614771" cy="54035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19310F42-932D-7EAD-FFCC-E97E08BB53E7}"/>
              </a:ext>
            </a:extLst>
          </p:cNvPr>
          <p:cNvGrpSpPr/>
          <p:nvPr/>
        </p:nvGrpSpPr>
        <p:grpSpPr>
          <a:xfrm>
            <a:off x="676975" y="3342644"/>
            <a:ext cx="5914474" cy="905435"/>
            <a:chOff x="676975" y="3342644"/>
            <a:chExt cx="5914474" cy="905435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4B3E896-1B18-E34D-BE42-70550625E680}"/>
                </a:ext>
              </a:extLst>
            </p:cNvPr>
            <p:cNvSpPr/>
            <p:nvPr/>
          </p:nvSpPr>
          <p:spPr>
            <a:xfrm>
              <a:off x="5440771" y="3342644"/>
              <a:ext cx="1150678" cy="2989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7C44F11-0B21-F8ED-EAC6-A82118C81533}"/>
                </a:ext>
              </a:extLst>
            </p:cNvPr>
            <p:cNvSpPr txBox="1"/>
            <p:nvPr/>
          </p:nvSpPr>
          <p:spPr>
            <a:xfrm>
              <a:off x="676975" y="3663304"/>
              <a:ext cx="414902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Fundamental not only to intelligent agents but also to Web user agents in general</a:t>
              </a:r>
            </a:p>
          </p:txBody>
        </p: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A331D105-4780-B4E8-903B-226B9CB62E07}"/>
                </a:ext>
              </a:extLst>
            </p:cNvPr>
            <p:cNvCxnSpPr>
              <a:cxnSpLocks/>
              <a:stCxn id="12" idx="1"/>
              <a:endCxn id="15" idx="3"/>
            </p:cNvCxnSpPr>
            <p:nvPr/>
          </p:nvCxnSpPr>
          <p:spPr>
            <a:xfrm flipH="1">
              <a:off x="4826000" y="3492124"/>
              <a:ext cx="614771" cy="463568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AA19293C-E86B-DD4E-5C3B-E77471EBEDA9}"/>
              </a:ext>
            </a:extLst>
          </p:cNvPr>
          <p:cNvGrpSpPr/>
          <p:nvPr/>
        </p:nvGrpSpPr>
        <p:grpSpPr>
          <a:xfrm>
            <a:off x="1178604" y="4571122"/>
            <a:ext cx="1440940" cy="1434874"/>
            <a:chOff x="1178673" y="4620892"/>
            <a:chExt cx="1440940" cy="1434874"/>
          </a:xfrm>
        </p:grpSpPr>
        <p:pic>
          <p:nvPicPr>
            <p:cNvPr id="31" name="Picture 30" descr="Icon  Description automatically generated">
              <a:extLst>
                <a:ext uri="{FF2B5EF4-FFF2-40B4-BE49-F238E27FC236}">
                  <a16:creationId xmlns:a16="http://schemas.microsoft.com/office/drawing/2014/main" id="{F2ECAE54-F788-B72B-C20F-C9E1F150812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178673" y="4620892"/>
              <a:ext cx="1440940" cy="1434874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9B6AE16D-8434-004A-F094-5768BC32E8EE}"/>
                </a:ext>
              </a:extLst>
            </p:cNvPr>
            <p:cNvSpPr/>
            <p:nvPr/>
          </p:nvSpPr>
          <p:spPr>
            <a:xfrm>
              <a:off x="1203630" y="5188580"/>
              <a:ext cx="1391026" cy="338997"/>
            </a:xfrm>
            <a:prstGeom prst="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200" b="1" dirty="0">
                  <a:solidFill>
                    <a:schemeClr val="tx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World Wide Web</a:t>
              </a:r>
            </a:p>
          </p:txBody>
        </p:sp>
      </p:grpSp>
      <p:sp>
        <p:nvSpPr>
          <p:cNvPr id="35" name="ZoneTexte 10">
            <a:extLst>
              <a:ext uri="{FF2B5EF4-FFF2-40B4-BE49-F238E27FC236}">
                <a16:creationId xmlns:a16="http://schemas.microsoft.com/office/drawing/2014/main" id="{1E0710D1-53FA-7954-127B-072BDC4F2DB5}"/>
              </a:ext>
            </a:extLst>
          </p:cNvPr>
          <p:cNvSpPr txBox="1"/>
          <p:nvPr/>
        </p:nvSpPr>
        <p:spPr>
          <a:xfrm>
            <a:off x="2967387" y="6600000"/>
            <a:ext cx="9191550" cy="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Rafel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Bordini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 et al., 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Programming Multi-Agent Systems in </a:t>
            </a:r>
            <a:r>
              <a:rPr lang="en-US" sz="1000" i="1" dirty="0" err="1">
                <a:solidFill>
                  <a:schemeClr val="bg1">
                    <a:lumMod val="50000"/>
                  </a:schemeClr>
                </a:solidFill>
              </a:rPr>
              <a:t>AgentSpeak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 using Jason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. John Wiley &amp; Sons, 2007.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Arial"/>
              <a:cs typeface="Arial"/>
            </a:endParaRPr>
          </a:p>
        </p:txBody>
      </p:sp>
      <p:sp>
        <p:nvSpPr>
          <p:cNvPr id="3" name="Slide Number Placeholder 3">
            <a:extLst>
              <a:ext uri="{FF2B5EF4-FFF2-40B4-BE49-F238E27FC236}">
                <a16:creationId xmlns:a16="http://schemas.microsoft.com/office/drawing/2014/main" id="{1387856E-D841-5090-1479-45D1F7FA5361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</p:spPr>
        <p:txBody>
          <a:bodyPr/>
          <a:lstStyle/>
          <a:p>
            <a:pPr algn="ctr"/>
            <a:fld id="{C8C132A9-93B1-4486-AF18-204BA7BC60A7}" type="slidenum">
              <a:rPr lang="en-US" sz="1875" b="1" smtClean="0">
                <a:solidFill>
                  <a:srgbClr val="FAFAFA"/>
                </a:solidFill>
                <a:latin typeface="+mn-lt"/>
              </a:rPr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50654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55A2DE-A5F6-3A54-3975-0E5E67FAEC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85D16-5FA6-52D3-0904-D7A1359A8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Web Agent Design Goals: System Level</a:t>
            </a:r>
          </a:p>
        </p:txBody>
      </p:sp>
      <p:pic>
        <p:nvPicPr>
          <p:cNvPr id="5" name="Picture 4" descr="A screenshot of a computer  AI-generated content may be incorrect.">
            <a:extLst>
              <a:ext uri="{FF2B5EF4-FFF2-40B4-BE49-F238E27FC236}">
                <a16:creationId xmlns:a16="http://schemas.microsoft.com/office/drawing/2014/main" id="{751310CB-5734-62D0-22B1-7C3AA4CAD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1337" y="1594935"/>
            <a:ext cx="6893216" cy="5174166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A8710580-1F7F-576B-0ED3-AA7C9B5658A4}"/>
              </a:ext>
            </a:extLst>
          </p:cNvPr>
          <p:cNvGrpSpPr/>
          <p:nvPr/>
        </p:nvGrpSpPr>
        <p:grpSpPr>
          <a:xfrm>
            <a:off x="867748" y="2043820"/>
            <a:ext cx="5625033" cy="2725030"/>
            <a:chOff x="867748" y="2043820"/>
            <a:chExt cx="5625033" cy="272503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1C34924D-CDE1-7C22-CD63-E0C44D65177B}"/>
                </a:ext>
              </a:extLst>
            </p:cNvPr>
            <p:cNvSpPr/>
            <p:nvPr/>
          </p:nvSpPr>
          <p:spPr>
            <a:xfrm>
              <a:off x="5440771" y="2235941"/>
              <a:ext cx="1052010" cy="253290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EE01214-A641-BD70-62EE-A630A33491A1}"/>
                </a:ext>
              </a:extLst>
            </p:cNvPr>
            <p:cNvSpPr txBox="1"/>
            <p:nvPr/>
          </p:nvSpPr>
          <p:spPr>
            <a:xfrm>
              <a:off x="867748" y="2043820"/>
              <a:ext cx="344064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Central design goals for deploying MAS at scale on the open Web</a:t>
              </a: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BE0EEE48-D3A2-9022-8C5C-3E7B5F12630A}"/>
                </a:ext>
              </a:extLst>
            </p:cNvPr>
            <p:cNvCxnSpPr>
              <a:cxnSpLocks/>
              <a:endCxn id="6" idx="3"/>
            </p:cNvCxnSpPr>
            <p:nvPr/>
          </p:nvCxnSpPr>
          <p:spPr>
            <a:xfrm flipH="1" flipV="1">
              <a:off x="4308393" y="2336208"/>
              <a:ext cx="1132378" cy="160463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Rechteck: abgerundete Ecken 3">
            <a:extLst>
              <a:ext uri="{FF2B5EF4-FFF2-40B4-BE49-F238E27FC236}">
                <a16:creationId xmlns:a16="http://schemas.microsoft.com/office/drawing/2014/main" id="{7411F16E-25DD-71BD-B665-A57F6421C785}"/>
              </a:ext>
            </a:extLst>
          </p:cNvPr>
          <p:cNvSpPr/>
          <p:nvPr/>
        </p:nvSpPr>
        <p:spPr>
          <a:xfrm>
            <a:off x="867603" y="3710590"/>
            <a:ext cx="4339252" cy="755784"/>
          </a:xfrm>
          <a:prstGeom prst="roundRect">
            <a:avLst/>
          </a:prstGeom>
          <a:solidFill>
            <a:schemeClr val="accent4"/>
          </a:solidFill>
          <a:ln>
            <a:solidFill>
              <a:srgbClr val="6F679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noProof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Hypothesis</a:t>
            </a:r>
            <a:r>
              <a:rPr lang="en-IE" sz="1600" noProof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MAS can inherit these strengths if they align with the Web architecture</a:t>
            </a:r>
            <a:endParaRPr lang="en-IE" sz="1600" b="1" noProof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6" name="Rechteck: abgerundete Ecken 3">
            <a:extLst>
              <a:ext uri="{FF2B5EF4-FFF2-40B4-BE49-F238E27FC236}">
                <a16:creationId xmlns:a16="http://schemas.microsoft.com/office/drawing/2014/main" id="{824DCF0F-DAAE-8F4D-B5EA-70A5316BC893}"/>
              </a:ext>
            </a:extLst>
          </p:cNvPr>
          <p:cNvSpPr/>
          <p:nvPr/>
        </p:nvSpPr>
        <p:spPr>
          <a:xfrm>
            <a:off x="867603" y="2826589"/>
            <a:ext cx="4339252" cy="755784"/>
          </a:xfrm>
          <a:prstGeom prst="roundRect">
            <a:avLst/>
          </a:prstGeom>
          <a:solidFill>
            <a:schemeClr val="accent4"/>
          </a:solidFill>
          <a:ln>
            <a:solidFill>
              <a:srgbClr val="6F679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E" sz="1600" b="1" noProof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Observation</a:t>
            </a:r>
            <a:r>
              <a:rPr lang="en-IE" sz="1600" noProof="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core strengths of the Web as a world-wide, open, and long-lived system</a:t>
            </a:r>
            <a:endParaRPr lang="en-IE" sz="1600" b="1" noProof="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46E8FB6A-D087-626D-AF4D-830B0FE98FEA}"/>
              </a:ext>
            </a:extLst>
          </p:cNvPr>
          <p:cNvGrpSpPr/>
          <p:nvPr/>
        </p:nvGrpSpPr>
        <p:grpSpPr>
          <a:xfrm>
            <a:off x="993532" y="4741804"/>
            <a:ext cx="5499248" cy="746093"/>
            <a:chOff x="1092200" y="2502516"/>
            <a:chExt cx="5499248" cy="746093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3E05CB8A-63B9-3049-A895-81201F127285}"/>
                </a:ext>
              </a:extLst>
            </p:cNvPr>
            <p:cNvSpPr/>
            <p:nvPr/>
          </p:nvSpPr>
          <p:spPr>
            <a:xfrm>
              <a:off x="5539437" y="2821950"/>
              <a:ext cx="1052011" cy="426659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2B6DCAD6-D992-4488-9921-B20568579065}"/>
                </a:ext>
              </a:extLst>
            </p:cNvPr>
            <p:cNvSpPr txBox="1"/>
            <p:nvPr/>
          </p:nvSpPr>
          <p:spPr>
            <a:xfrm>
              <a:off x="1092200" y="2502516"/>
              <a:ext cx="3733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Necessary for agents to perceive their hypermedia environments</a:t>
              </a:r>
            </a:p>
          </p:txBody>
        </p:sp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96C6BB00-8F03-DA15-12AB-233BB7CA785E}"/>
                </a:ext>
              </a:extLst>
            </p:cNvPr>
            <p:cNvCxnSpPr>
              <a:cxnSpLocks/>
              <a:stCxn id="20" idx="1"/>
              <a:endCxn id="21" idx="3"/>
            </p:cNvCxnSpPr>
            <p:nvPr/>
          </p:nvCxnSpPr>
          <p:spPr>
            <a:xfrm flipH="1" flipV="1">
              <a:off x="4826000" y="2794904"/>
              <a:ext cx="713437" cy="24037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0EEC3977-A012-FD40-E67B-30AA3875D49E}"/>
              </a:ext>
            </a:extLst>
          </p:cNvPr>
          <p:cNvGrpSpPr/>
          <p:nvPr/>
        </p:nvGrpSpPr>
        <p:grpSpPr>
          <a:xfrm>
            <a:off x="993532" y="5469364"/>
            <a:ext cx="5499248" cy="584775"/>
            <a:chOff x="1092200" y="2705716"/>
            <a:chExt cx="5499248" cy="584775"/>
          </a:xfrm>
        </p:grpSpPr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0514E61C-9FD6-FC42-8439-DCD340C10323}"/>
                </a:ext>
              </a:extLst>
            </p:cNvPr>
            <p:cNvSpPr/>
            <p:nvPr/>
          </p:nvSpPr>
          <p:spPr>
            <a:xfrm>
              <a:off x="5539437" y="2802229"/>
              <a:ext cx="1052011" cy="289092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D47F9A4-8564-A468-6175-95D8AD1A92B8}"/>
                </a:ext>
              </a:extLst>
            </p:cNvPr>
            <p:cNvSpPr txBox="1"/>
            <p:nvPr/>
          </p:nvSpPr>
          <p:spPr>
            <a:xfrm>
              <a:off x="1092200" y="2705716"/>
              <a:ext cx="3733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Prerequisite for accountability, explainability, and trust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1167ABB-FBC6-6BD9-6759-C9B9904A3962}"/>
                </a:ext>
              </a:extLst>
            </p:cNvPr>
            <p:cNvCxnSpPr>
              <a:cxnSpLocks/>
              <a:stCxn id="26" idx="1"/>
              <a:endCxn id="27" idx="3"/>
            </p:cNvCxnSpPr>
            <p:nvPr/>
          </p:nvCxnSpPr>
          <p:spPr>
            <a:xfrm flipH="1">
              <a:off x="4826000" y="2946775"/>
              <a:ext cx="713437" cy="51329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27BB91B8-C2C6-C7C4-76F1-218505141F3D}"/>
              </a:ext>
            </a:extLst>
          </p:cNvPr>
          <p:cNvGrpSpPr/>
          <p:nvPr/>
        </p:nvGrpSpPr>
        <p:grpSpPr>
          <a:xfrm>
            <a:off x="993349" y="6096889"/>
            <a:ext cx="5499248" cy="678645"/>
            <a:chOff x="1092200" y="2789646"/>
            <a:chExt cx="5499248" cy="678645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BCDDCD57-BA9E-15C7-7774-4C418CAC5441}"/>
                </a:ext>
              </a:extLst>
            </p:cNvPr>
            <p:cNvSpPr/>
            <p:nvPr/>
          </p:nvSpPr>
          <p:spPr>
            <a:xfrm>
              <a:off x="5539437" y="2789646"/>
              <a:ext cx="1052011" cy="342847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C1FB23B-815B-01B1-6C88-409D6B3626F1}"/>
                </a:ext>
              </a:extLst>
            </p:cNvPr>
            <p:cNvSpPr txBox="1"/>
            <p:nvPr/>
          </p:nvSpPr>
          <p:spPr>
            <a:xfrm>
              <a:off x="1092200" y="2883516"/>
              <a:ext cx="37338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Critical for agents</a:t>
              </a:r>
            </a:p>
            <a:p>
              <a:pPr algn="r"/>
              <a:r>
                <a:rPr lang="en-US" sz="16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on the open Web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4CDCB26-BB10-FB0C-9ABA-4CBA0EB1D7FB}"/>
                </a:ext>
              </a:extLst>
            </p:cNvPr>
            <p:cNvCxnSpPr>
              <a:cxnSpLocks/>
              <a:stCxn id="31" idx="1"/>
              <a:endCxn id="32" idx="3"/>
            </p:cNvCxnSpPr>
            <p:nvPr/>
          </p:nvCxnSpPr>
          <p:spPr>
            <a:xfrm flipH="1">
              <a:off x="4826000" y="2961070"/>
              <a:ext cx="713437" cy="21483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" name="Slide Number Placeholder 3">
            <a:extLst>
              <a:ext uri="{FF2B5EF4-FFF2-40B4-BE49-F238E27FC236}">
                <a16:creationId xmlns:a16="http://schemas.microsoft.com/office/drawing/2014/main" id="{B34F55FA-F4F7-49A1-53E5-E9B98B1882F2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</p:spPr>
        <p:txBody>
          <a:bodyPr/>
          <a:lstStyle/>
          <a:p>
            <a:pPr algn="ctr"/>
            <a:fld id="{C8C132A9-93B1-4486-AF18-204BA7BC60A7}" type="slidenum">
              <a:rPr lang="en-US" sz="1875" b="1" smtClean="0">
                <a:solidFill>
                  <a:srgbClr val="FAFAFA"/>
                </a:solidFill>
                <a:latin typeface="+mn-lt"/>
              </a:rPr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4586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35738-8A7A-056A-42D0-EA1BBDC54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Architectural Patterns for MAS</a:t>
            </a:r>
            <a:endParaRPr lang="en-US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0CDF8FDB-F2B0-3534-7FB6-268005D572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52880" y="4394199"/>
            <a:ext cx="1142552" cy="180269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 descr="A diagram of a multi-agent system&#10;&#10;AI-generated content may be incorrect.">
            <a:extLst>
              <a:ext uri="{FF2B5EF4-FFF2-40B4-BE49-F238E27FC236}">
                <a16:creationId xmlns:a16="http://schemas.microsoft.com/office/drawing/2014/main" id="{C1916F4F-871E-53D7-A066-8ADDCC6385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9646" y="1862948"/>
            <a:ext cx="6084054" cy="4401721"/>
          </a:xfrm>
          <a:prstGeom prst="rect">
            <a:avLst/>
          </a:prstGeom>
        </p:spPr>
      </p:pic>
      <p:sp>
        <p:nvSpPr>
          <p:cNvPr id="9" name="ZoneTexte 6">
            <a:extLst>
              <a:ext uri="{FF2B5EF4-FFF2-40B4-BE49-F238E27FC236}">
                <a16:creationId xmlns:a16="http://schemas.microsoft.com/office/drawing/2014/main" id="{2E3FDAF2-2DA9-6EFF-E52C-1ECC7EE01B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51363" y="6639394"/>
            <a:ext cx="4435830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  <a:cs typeface="ＭＳ Ｐゴシック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Calibri" charset="0"/>
                <a:ea typeface="ＭＳ Ｐゴシック" charset="0"/>
              </a:defRPr>
            </a:lvl9pPr>
          </a:lstStyle>
          <a:p>
            <a:pPr algn="r" eaLnBrk="1" hangingPunct="1"/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Danny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</a:rPr>
              <a:t>Weyns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: 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</a:rPr>
              <a:t>Architecture-based Design of Multi-Agent Systems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</a:rPr>
              <a:t>. Springer. 2010.</a:t>
            </a:r>
            <a:endParaRPr lang="en-GB" sz="10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039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743090-833E-549C-CCEF-73816935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A5504-8304-6995-57D7-7A279795F2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 for MAS</a:t>
            </a:r>
          </a:p>
        </p:txBody>
      </p:sp>
      <p:pic>
        <p:nvPicPr>
          <p:cNvPr id="5" name="Picture 4" descr="A diagram of a process&#10;&#10;AI-generated content may be incorrect.">
            <a:extLst>
              <a:ext uri="{FF2B5EF4-FFF2-40B4-BE49-F238E27FC236}">
                <a16:creationId xmlns:a16="http://schemas.microsoft.com/office/drawing/2014/main" id="{3240328A-C21C-2C9B-486D-5F533477F6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140" y="1825900"/>
            <a:ext cx="5673771" cy="3384000"/>
          </a:xfrm>
          <a:prstGeom prst="rect">
            <a:avLst/>
          </a:prstGeom>
        </p:spPr>
      </p:pic>
      <p:sp>
        <p:nvSpPr>
          <p:cNvPr id="11" name="Rechteck: abgerundete Ecken 3">
            <a:extLst>
              <a:ext uri="{FF2B5EF4-FFF2-40B4-BE49-F238E27FC236}">
                <a16:creationId xmlns:a16="http://schemas.microsoft.com/office/drawing/2014/main" id="{D6D9E699-7AE0-1A2E-0DC6-3BF08EF548B9}"/>
              </a:ext>
            </a:extLst>
          </p:cNvPr>
          <p:cNvSpPr/>
          <p:nvPr/>
        </p:nvSpPr>
        <p:spPr>
          <a:xfrm>
            <a:off x="1453243" y="5472118"/>
            <a:ext cx="5267674" cy="755784"/>
          </a:xfrm>
          <a:prstGeom prst="roundRect">
            <a:avLst/>
          </a:prstGeom>
          <a:solidFill>
            <a:schemeClr val="accent4"/>
          </a:solidFill>
          <a:ln>
            <a:solidFill>
              <a:srgbClr val="6F679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</a:t>
            </a:r>
            <a:r>
              <a:rPr lang="de-DE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GB" dirty="0"/>
              <a:t>not all components or their interfaces may be needed in a given implementation</a:t>
            </a:r>
            <a:endParaRPr lang="de-DE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3" name="ZoneTexte 10">
            <a:extLst>
              <a:ext uri="{FF2B5EF4-FFF2-40B4-BE49-F238E27FC236}">
                <a16:creationId xmlns:a16="http://schemas.microsoft.com/office/drawing/2014/main" id="{3B431ED0-86B6-3431-0E32-0F2591924672}"/>
              </a:ext>
            </a:extLst>
          </p:cNvPr>
          <p:cNvSpPr txBox="1"/>
          <p:nvPr/>
        </p:nvSpPr>
        <p:spPr>
          <a:xfrm>
            <a:off x="2967387" y="6479469"/>
            <a:ext cx="919155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Rafel </a:t>
            </a:r>
            <a:r>
              <a:rPr lang="en-US" sz="1000" dirty="0" err="1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Bordini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et al., 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Programming Multi-Agent Systems in </a:t>
            </a:r>
            <a:r>
              <a:rPr lang="en-US" sz="1000" i="1" dirty="0" err="1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AgentSpeak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using Jason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. John Wiley &amp; Sons, 2007.</a:t>
            </a:r>
          </a:p>
          <a:p>
            <a:pPr algn="r">
              <a:defRPr/>
            </a:pP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Theodore R. Sumers et al., </a:t>
            </a:r>
            <a:r>
              <a:rPr lang="en-US" sz="1000" i="1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Cognitive Architectures for Language Agents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, TMLR, 2024. </a:t>
            </a:r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3"/>
              </a:rPr>
              <a:t>https://arxiv.org/abs/2309.02427</a:t>
            </a:r>
            <a:endParaRPr lang="en-US" sz="1000" dirty="0">
              <a:solidFill>
                <a:schemeClr val="bg1">
                  <a:lumMod val="50000"/>
                </a:schemeClr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6F331692-13F5-E47B-F8E6-321AC7E58A44}"/>
              </a:ext>
            </a:extLst>
          </p:cNvPr>
          <p:cNvGrpSpPr/>
          <p:nvPr/>
        </p:nvGrpSpPr>
        <p:grpSpPr>
          <a:xfrm>
            <a:off x="7472478" y="940345"/>
            <a:ext cx="4234023" cy="2644275"/>
            <a:chOff x="7300992" y="851445"/>
            <a:chExt cx="4234023" cy="2644275"/>
          </a:xfrm>
        </p:grpSpPr>
        <p:pic>
          <p:nvPicPr>
            <p:cNvPr id="19" name="Picture 18" descr="Diagram&#10;&#10;Description automatically generated">
              <a:extLst>
                <a:ext uri="{FF2B5EF4-FFF2-40B4-BE49-F238E27FC236}">
                  <a16:creationId xmlns:a16="http://schemas.microsoft.com/office/drawing/2014/main" id="{571D87F2-24CD-0CEF-05E5-475F0599092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444106" y="851445"/>
              <a:ext cx="3947795" cy="2219739"/>
            </a:xfrm>
            <a:prstGeom prst="rect">
              <a:avLst/>
            </a:prstGeom>
          </p:spPr>
        </p:pic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5F2D45CE-64A5-93B5-AEF1-A9316E843D15}"/>
                </a:ext>
              </a:extLst>
            </p:cNvPr>
            <p:cNvSpPr txBox="1"/>
            <p:nvPr/>
          </p:nvSpPr>
          <p:spPr>
            <a:xfrm>
              <a:off x="7300992" y="3003277"/>
              <a:ext cx="4234023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Jason Architecture for BDI Agents</a:t>
              </a: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b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</a:t>
              </a:r>
              <a:r>
                <a:rPr lang="en-US" sz="1200" dirty="0" err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Bordini</a:t>
              </a: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 </a:t>
              </a:r>
              <a:r>
                <a:rPr lang="en-US" sz="1200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et al.</a:t>
              </a: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2007]</a:t>
              </a: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C12F5143-3FFE-4180-B44B-2B2163FBD26D}"/>
              </a:ext>
            </a:extLst>
          </p:cNvPr>
          <p:cNvGrpSpPr/>
          <p:nvPr/>
        </p:nvGrpSpPr>
        <p:grpSpPr>
          <a:xfrm>
            <a:off x="7352338" y="3657600"/>
            <a:ext cx="4474302" cy="2858999"/>
            <a:chOff x="7174538" y="3886746"/>
            <a:chExt cx="4474302" cy="2858999"/>
          </a:xfrm>
        </p:grpSpPr>
        <p:pic>
          <p:nvPicPr>
            <p:cNvPr id="14" name="Picture 13" descr="A diagram of a computer process&#10;&#10;AI-generated content may be incorrect.">
              <a:extLst>
                <a:ext uri="{FF2B5EF4-FFF2-40B4-BE49-F238E27FC236}">
                  <a16:creationId xmlns:a16="http://schemas.microsoft.com/office/drawing/2014/main" id="{CAE280AB-754F-10F1-E9D2-03786D517C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805960" y="3886746"/>
              <a:ext cx="3211459" cy="2374148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851FB82-21A5-F6FB-F8E4-21AF8655EF51}"/>
                </a:ext>
              </a:extLst>
            </p:cNvPr>
            <p:cNvSpPr txBox="1"/>
            <p:nvPr/>
          </p:nvSpPr>
          <p:spPr>
            <a:xfrm>
              <a:off x="7174538" y="6253302"/>
              <a:ext cx="4474302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Cognitive Architectures for Language Agents (</a:t>
              </a:r>
              <a:r>
                <a:rPr lang="en-US" sz="1400" b="1" dirty="0" err="1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CoALA</a:t>
              </a:r>
              <a:r>
                <a:rPr lang="en-US" sz="14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)</a:t>
              </a:r>
              <a:br>
                <a:rPr lang="en-US" sz="12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[Summers </a:t>
              </a:r>
              <a:r>
                <a:rPr lang="en-US" sz="1200" i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et al.</a:t>
              </a:r>
              <a:r>
                <a:rPr lang="en-US" sz="1200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, 2024]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278DEFFD-DF66-5DC8-37B8-D984992A6D6F}"/>
              </a:ext>
            </a:extLst>
          </p:cNvPr>
          <p:cNvGrpSpPr/>
          <p:nvPr/>
        </p:nvGrpSpPr>
        <p:grpSpPr>
          <a:xfrm>
            <a:off x="8096781" y="3734226"/>
            <a:ext cx="2968477" cy="1521783"/>
            <a:chOff x="8096781" y="3734226"/>
            <a:chExt cx="2968477" cy="152178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06C25E1-1DDC-615E-1E51-602114BA78EF}"/>
                </a:ext>
              </a:extLst>
            </p:cNvPr>
            <p:cNvGrpSpPr/>
            <p:nvPr/>
          </p:nvGrpSpPr>
          <p:grpSpPr>
            <a:xfrm>
              <a:off x="8096781" y="3734226"/>
              <a:ext cx="2967969" cy="1521783"/>
              <a:chOff x="8096781" y="3734226"/>
              <a:chExt cx="2967969" cy="1521783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64A743E3-1057-E794-767B-C74B1AA30AA1}"/>
                  </a:ext>
                </a:extLst>
              </p:cNvPr>
              <p:cNvSpPr/>
              <p:nvPr/>
            </p:nvSpPr>
            <p:spPr>
              <a:xfrm>
                <a:off x="8096781" y="3734226"/>
                <a:ext cx="2967969" cy="822449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5F1E539D-64FC-8C2A-A641-DB4DA5AE9464}"/>
                  </a:ext>
                </a:extLst>
              </p:cNvPr>
              <p:cNvSpPr/>
              <p:nvPr/>
            </p:nvSpPr>
            <p:spPr>
              <a:xfrm>
                <a:off x="9011182" y="4557719"/>
                <a:ext cx="2053567" cy="698290"/>
              </a:xfrm>
              <a:prstGeom prst="rect">
                <a:avLst/>
              </a:prstGeom>
              <a:solidFill>
                <a:schemeClr val="bg1">
                  <a:alpha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628760B2-77BE-D87E-4DE4-0714EAE56060}"/>
                </a:ext>
              </a:extLst>
            </p:cNvPr>
            <p:cNvSpPr txBox="1"/>
            <p:nvPr/>
          </p:nvSpPr>
          <p:spPr>
            <a:xfrm>
              <a:off x="10199315" y="3927763"/>
              <a:ext cx="86594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Memory</a:t>
              </a: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7C3046B-B358-AFE4-F7E6-70BA401A9B7E}"/>
              </a:ext>
            </a:extLst>
          </p:cNvPr>
          <p:cNvGrpSpPr/>
          <p:nvPr/>
        </p:nvGrpSpPr>
        <p:grpSpPr>
          <a:xfrm>
            <a:off x="8076349" y="4633136"/>
            <a:ext cx="875561" cy="629477"/>
            <a:chOff x="8096781" y="4643352"/>
            <a:chExt cx="875561" cy="629477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B607264-8D2F-7086-7EC6-91A696E7C381}"/>
                </a:ext>
              </a:extLst>
            </p:cNvPr>
            <p:cNvSpPr/>
            <p:nvPr/>
          </p:nvSpPr>
          <p:spPr>
            <a:xfrm>
              <a:off x="8119609" y="4643352"/>
              <a:ext cx="829904" cy="629477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C25A476-0766-F38D-2850-86CA179E7E3C}"/>
                </a:ext>
              </a:extLst>
            </p:cNvPr>
            <p:cNvSpPr txBox="1"/>
            <p:nvPr/>
          </p:nvSpPr>
          <p:spPr>
            <a:xfrm>
              <a:off x="8096781" y="4696480"/>
              <a:ext cx="875561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Decision</a:t>
              </a:r>
            </a:p>
            <a:p>
              <a:pPr algn="ctr"/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Making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C1FAF69-5F00-FB32-E2AF-84BA60351CDD}"/>
              </a:ext>
            </a:extLst>
          </p:cNvPr>
          <p:cNvGrpSpPr/>
          <p:nvPr/>
        </p:nvGrpSpPr>
        <p:grpSpPr>
          <a:xfrm>
            <a:off x="7925126" y="1062909"/>
            <a:ext cx="3377874" cy="1941294"/>
            <a:chOff x="7925126" y="1012109"/>
            <a:chExt cx="3377874" cy="1941294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51EE1C1C-6430-AB3C-B436-37D3E96A5467}"/>
                </a:ext>
              </a:extLst>
            </p:cNvPr>
            <p:cNvSpPr/>
            <p:nvPr/>
          </p:nvSpPr>
          <p:spPr>
            <a:xfrm>
              <a:off x="7925126" y="1012109"/>
              <a:ext cx="3377874" cy="1941294"/>
            </a:xfrm>
            <a:prstGeom prst="rect">
              <a:avLst/>
            </a:prstGeom>
            <a:solidFill>
              <a:schemeClr val="bg1">
                <a:alpha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30043FC-9150-6C7D-4DA6-49F1EDEAFCEE}"/>
                </a:ext>
              </a:extLst>
            </p:cNvPr>
            <p:cNvSpPr txBox="1"/>
            <p:nvPr/>
          </p:nvSpPr>
          <p:spPr>
            <a:xfrm>
              <a:off x="8188833" y="1390286"/>
              <a:ext cx="2850460" cy="118494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Memory (belief base, plan library)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Perception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Communication</a:t>
              </a:r>
            </a:p>
            <a:p>
              <a:pPr algn="ctr">
                <a:spcBef>
                  <a:spcPts val="600"/>
                </a:spcBef>
              </a:pPr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Decision Making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C83E0DD-82BE-83B5-8F75-3AD744F6C291}"/>
              </a:ext>
            </a:extLst>
          </p:cNvPr>
          <p:cNvGrpSpPr/>
          <p:nvPr/>
        </p:nvGrpSpPr>
        <p:grpSpPr>
          <a:xfrm>
            <a:off x="6846805" y="969636"/>
            <a:ext cx="817556" cy="354204"/>
            <a:chOff x="6846805" y="918836"/>
            <a:chExt cx="817556" cy="354204"/>
          </a:xfrm>
        </p:grpSpPr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6566A8C-14B8-4C0E-840D-968901710584}"/>
                </a:ext>
              </a:extLst>
            </p:cNvPr>
            <p:cNvSpPr txBox="1"/>
            <p:nvPr/>
          </p:nvSpPr>
          <p:spPr>
            <a:xfrm>
              <a:off x="6846805" y="918836"/>
              <a:ext cx="7298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Sense</a:t>
              </a:r>
            </a:p>
          </p:txBody>
        </p: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8845528-7845-E329-0866-D7836D37C76D}"/>
                </a:ext>
              </a:extLst>
            </p:cNvPr>
            <p:cNvCxnSpPr>
              <a:cxnSpLocks/>
            </p:cNvCxnSpPr>
            <p:nvPr/>
          </p:nvCxnSpPr>
          <p:spPr>
            <a:xfrm>
              <a:off x="7515972" y="1160614"/>
              <a:ext cx="148389" cy="112426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2E62011C-FFAA-24F1-2DD7-03F0AE96A79D}"/>
              </a:ext>
            </a:extLst>
          </p:cNvPr>
          <p:cNvGrpSpPr/>
          <p:nvPr/>
        </p:nvGrpSpPr>
        <p:grpSpPr>
          <a:xfrm>
            <a:off x="6558729" y="1567941"/>
            <a:ext cx="1142831" cy="523220"/>
            <a:chOff x="6509048" y="841099"/>
            <a:chExt cx="1142831" cy="523220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F7A0B7AA-F93C-B473-173E-2A8C39B99D36}"/>
                </a:ext>
              </a:extLst>
            </p:cNvPr>
            <p:cNvSpPr txBox="1"/>
            <p:nvPr/>
          </p:nvSpPr>
          <p:spPr>
            <a:xfrm>
              <a:off x="6509048" y="841099"/>
              <a:ext cx="9572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Receive</a:t>
              </a:r>
              <a:b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Message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4085D24E-537E-E27B-CB39-48B9577F6C40}"/>
                </a:ext>
              </a:extLst>
            </p:cNvPr>
            <p:cNvCxnSpPr>
              <a:cxnSpLocks/>
            </p:cNvCxnSpPr>
            <p:nvPr/>
          </p:nvCxnSpPr>
          <p:spPr>
            <a:xfrm>
              <a:off x="7422797" y="1179570"/>
              <a:ext cx="229082" cy="143802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12B940AF-768F-38C9-CA68-1467FF9B0097}"/>
              </a:ext>
            </a:extLst>
          </p:cNvPr>
          <p:cNvGrpSpPr/>
          <p:nvPr/>
        </p:nvGrpSpPr>
        <p:grpSpPr>
          <a:xfrm>
            <a:off x="11485657" y="1628224"/>
            <a:ext cx="639979" cy="464759"/>
            <a:chOff x="6988554" y="970710"/>
            <a:chExt cx="639979" cy="464759"/>
          </a:xfrm>
        </p:grpSpPr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7F0AFC67-EDE7-C620-E7F4-05F59C4A0B7E}"/>
                </a:ext>
              </a:extLst>
            </p:cNvPr>
            <p:cNvSpPr txBox="1"/>
            <p:nvPr/>
          </p:nvSpPr>
          <p:spPr>
            <a:xfrm>
              <a:off x="7107381" y="970710"/>
              <a:ext cx="5211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Act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B332B9D4-0839-CD46-9E6C-D38E9EF9EEA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6988554" y="1261955"/>
              <a:ext cx="153095" cy="17351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BEA95B46-0629-EF26-B368-8CB31A141B17}"/>
              </a:ext>
            </a:extLst>
          </p:cNvPr>
          <p:cNvGrpSpPr/>
          <p:nvPr/>
        </p:nvGrpSpPr>
        <p:grpSpPr>
          <a:xfrm>
            <a:off x="11308867" y="2549223"/>
            <a:ext cx="957243" cy="676454"/>
            <a:chOff x="6509796" y="1185165"/>
            <a:chExt cx="957243" cy="676454"/>
          </a:xfrm>
        </p:grpSpPr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091AE831-A329-6A53-50F4-23B09B273111}"/>
                </a:ext>
              </a:extLst>
            </p:cNvPr>
            <p:cNvSpPr txBox="1"/>
            <p:nvPr/>
          </p:nvSpPr>
          <p:spPr>
            <a:xfrm>
              <a:off x="6509796" y="1338399"/>
              <a:ext cx="95724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Send</a:t>
              </a:r>
              <a:b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Message</a:t>
              </a:r>
            </a:p>
          </p:txBody>
        </p: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77700385-E08C-ACBC-C18F-848E8677A48F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45678" y="1185165"/>
              <a:ext cx="81817" cy="179974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0BF01AC0-5CE9-2C5F-23CE-8B02B5D9236E}"/>
              </a:ext>
            </a:extLst>
          </p:cNvPr>
          <p:cNvGrpSpPr/>
          <p:nvPr/>
        </p:nvGrpSpPr>
        <p:grpSpPr>
          <a:xfrm>
            <a:off x="7868774" y="5333084"/>
            <a:ext cx="1142408" cy="307777"/>
            <a:chOff x="7318046" y="715683"/>
            <a:chExt cx="1142408" cy="307777"/>
          </a:xfrm>
        </p:grpSpPr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F2CD3C1-472C-841C-E51A-017C53A95E10}"/>
                </a:ext>
              </a:extLst>
            </p:cNvPr>
            <p:cNvSpPr txBox="1"/>
            <p:nvPr/>
          </p:nvSpPr>
          <p:spPr>
            <a:xfrm>
              <a:off x="7318046" y="715683"/>
              <a:ext cx="5211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Act</a:t>
              </a:r>
            </a:p>
          </p:txBody>
        </p: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2CAA816C-8061-8FFF-4A5D-1C6A98AEA80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746333" y="743592"/>
              <a:ext cx="714121" cy="110489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AFED3BC-D18F-87CE-5490-C6F96651AB02}"/>
              </a:ext>
            </a:extLst>
          </p:cNvPr>
          <p:cNvGrpSpPr/>
          <p:nvPr/>
        </p:nvGrpSpPr>
        <p:grpSpPr>
          <a:xfrm>
            <a:off x="10069620" y="5338630"/>
            <a:ext cx="1654818" cy="307777"/>
            <a:chOff x="6637303" y="453952"/>
            <a:chExt cx="1654818" cy="307777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2554F4A-92B4-B414-756C-50100E707FEB}"/>
                </a:ext>
              </a:extLst>
            </p:cNvPr>
            <p:cNvSpPr txBox="1"/>
            <p:nvPr/>
          </p:nvSpPr>
          <p:spPr>
            <a:xfrm>
              <a:off x="7335983" y="453952"/>
              <a:ext cx="95613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b="1" dirty="0">
                  <a:solidFill>
                    <a:srgbClr val="FF0000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Sense?</a:t>
              </a:r>
            </a:p>
          </p:txBody>
        </p: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6B985BEB-DFA5-4CCC-57D0-27C16A49917D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637303" y="476315"/>
              <a:ext cx="714121" cy="106721"/>
            </a:xfrm>
            <a:prstGeom prst="straightConnector1">
              <a:avLst/>
            </a:prstGeom>
            <a:ln w="190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25993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758E8-8D92-E8D6-B165-4B07B02F0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F6676-0E04-CFAB-A415-425F344F2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Architectural Patterns for MAS</a:t>
            </a:r>
          </a:p>
        </p:txBody>
      </p:sp>
      <p:pic>
        <p:nvPicPr>
          <p:cNvPr id="7" name="Picture 6" descr="A diagram of a service&#10;&#10;AI-generated content may be incorrect.">
            <a:extLst>
              <a:ext uri="{FF2B5EF4-FFF2-40B4-BE49-F238E27FC236}">
                <a16:creationId xmlns:a16="http://schemas.microsoft.com/office/drawing/2014/main" id="{FD158E60-5271-7158-FAAB-7BD57A17F3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8137" y="1683834"/>
            <a:ext cx="4661894" cy="508000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D9E62C8-9E04-ED34-4944-C0577BA330F1}"/>
              </a:ext>
            </a:extLst>
          </p:cNvPr>
          <p:cNvSpPr txBox="1"/>
          <p:nvPr/>
        </p:nvSpPr>
        <p:spPr>
          <a:xfrm>
            <a:off x="6901870" y="6432490"/>
            <a:ext cx="53238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MCP example adapted from: </a:t>
            </a:r>
            <a:br>
              <a:rPr lang="en-US" sz="1000" dirty="0">
                <a:solidFill>
                  <a:schemeClr val="bg1">
                    <a:lumMod val="50000"/>
                  </a:schemeClr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</a:br>
            <a:r>
              <a:rPr lang="en-US" sz="1000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  <a:hlinkClick r:id="rId4"/>
              </a:rPr>
              <a:t>https://modelcontextprotocol.io/specification/2025-06-18/architecture#core-components</a:t>
            </a:r>
            <a:endParaRPr lang="en-US" sz="1000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Rechteck: abgerundete Ecken 3">
            <a:extLst>
              <a:ext uri="{FF2B5EF4-FFF2-40B4-BE49-F238E27FC236}">
                <a16:creationId xmlns:a16="http://schemas.microsoft.com/office/drawing/2014/main" id="{8C51E5BA-A9EC-DFA7-F093-7EF2F8CDC4B5}"/>
              </a:ext>
            </a:extLst>
          </p:cNvPr>
          <p:cNvSpPr/>
          <p:nvPr/>
        </p:nvSpPr>
        <p:spPr>
          <a:xfrm>
            <a:off x="6901871" y="1093751"/>
            <a:ext cx="5031422" cy="755784"/>
          </a:xfrm>
          <a:prstGeom prst="roundRect">
            <a:avLst/>
          </a:prstGeom>
          <a:solidFill>
            <a:schemeClr val="accent4"/>
          </a:solidFill>
          <a:ln>
            <a:solidFill>
              <a:srgbClr val="6F679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Note</a:t>
            </a:r>
            <a:r>
              <a:rPr lang="de-DE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: </a:t>
            </a:r>
            <a:r>
              <a:rPr lang="en-GB" dirty="0"/>
              <a:t>not all components or their interfaces may be needed in a given implementation</a:t>
            </a:r>
            <a:endParaRPr lang="de-DE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6" name="Rechteck: abgerundete Ecken 3">
            <a:extLst>
              <a:ext uri="{FF2B5EF4-FFF2-40B4-BE49-F238E27FC236}">
                <a16:creationId xmlns:a16="http://schemas.microsoft.com/office/drawing/2014/main" id="{7899562E-BB33-A5F3-94E8-1BC52D3E277D}"/>
              </a:ext>
            </a:extLst>
          </p:cNvPr>
          <p:cNvSpPr/>
          <p:nvPr/>
        </p:nvSpPr>
        <p:spPr>
          <a:xfrm>
            <a:off x="4073304" y="4160334"/>
            <a:ext cx="1917008" cy="665666"/>
          </a:xfrm>
          <a:prstGeom prst="roundRect">
            <a:avLst/>
          </a:prstGeom>
          <a:solidFill>
            <a:schemeClr val="accent4"/>
          </a:solidFill>
          <a:ln>
            <a:solidFill>
              <a:srgbClr val="6F6798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 adaptation layer</a:t>
            </a:r>
            <a:endParaRPr lang="de-DE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14D5A3C8-DD5C-32B1-001E-E13053534449}"/>
              </a:ext>
            </a:extLst>
          </p:cNvPr>
          <p:cNvGrpSpPr/>
          <p:nvPr/>
        </p:nvGrpSpPr>
        <p:grpSpPr>
          <a:xfrm>
            <a:off x="6836090" y="2110328"/>
            <a:ext cx="2451312" cy="4315734"/>
            <a:chOff x="7013890" y="2110328"/>
            <a:chExt cx="2451312" cy="431573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210A9A5-E753-2A8A-3B45-4198B7066BAC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7422570" y="2110328"/>
              <a:ext cx="1612871" cy="3656787"/>
              <a:chOff x="8254997" y="2010876"/>
              <a:chExt cx="1866903" cy="4232743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DCF56B51-DEE6-35BE-EB33-8C1579AB223E}"/>
                  </a:ext>
                </a:extLst>
              </p:cNvPr>
              <p:cNvGrpSpPr/>
              <p:nvPr/>
            </p:nvGrpSpPr>
            <p:grpSpPr>
              <a:xfrm>
                <a:off x="8254997" y="4995217"/>
                <a:ext cx="1866901" cy="1248402"/>
                <a:chOff x="8191499" y="2071385"/>
                <a:chExt cx="1866901" cy="1248402"/>
              </a:xfrm>
            </p:grpSpPr>
            <p:sp>
              <p:nvSpPr>
                <p:cNvPr id="26" name="Rectangle 25">
                  <a:extLst>
                    <a:ext uri="{FF2B5EF4-FFF2-40B4-BE49-F238E27FC236}">
                      <a16:creationId xmlns:a16="http://schemas.microsoft.com/office/drawing/2014/main" id="{F6366F45-678B-9B0C-6742-6BEBE113368C}"/>
                    </a:ext>
                  </a:extLst>
                </p:cNvPr>
                <p:cNvSpPr/>
                <p:nvPr/>
              </p:nvSpPr>
              <p:spPr>
                <a:xfrm>
                  <a:off x="8191499" y="2071385"/>
                  <a:ext cx="1866901" cy="124840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7" name="TextBox 26">
                  <a:extLst>
                    <a:ext uri="{FF2B5EF4-FFF2-40B4-BE49-F238E27FC236}">
                      <a16:creationId xmlns:a16="http://schemas.microsoft.com/office/drawing/2014/main" id="{9ED9EE8E-D8A2-AEF0-5049-F42E6A42A125}"/>
                    </a:ext>
                  </a:extLst>
                </p:cNvPr>
                <p:cNvSpPr txBox="1"/>
                <p:nvPr/>
              </p:nvSpPr>
              <p:spPr>
                <a:xfrm>
                  <a:off x="9259038" y="2099094"/>
                  <a:ext cx="794517" cy="3206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Node 2</a:t>
                  </a:r>
                </a:p>
              </p:txBody>
            </p:sp>
          </p:grpSp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95C23B69-E743-4ECC-35C6-360FABCBEA59}"/>
                  </a:ext>
                </a:extLst>
              </p:cNvPr>
              <p:cNvGrpSpPr/>
              <p:nvPr/>
            </p:nvGrpSpPr>
            <p:grpSpPr>
              <a:xfrm>
                <a:off x="8254998" y="3521149"/>
                <a:ext cx="1866901" cy="1039542"/>
                <a:chOff x="8191499" y="2071385"/>
                <a:chExt cx="1866901" cy="1039542"/>
              </a:xfrm>
            </p:grpSpPr>
            <p:sp>
              <p:nvSpPr>
                <p:cNvPr id="23" name="Rectangle 22">
                  <a:extLst>
                    <a:ext uri="{FF2B5EF4-FFF2-40B4-BE49-F238E27FC236}">
                      <a16:creationId xmlns:a16="http://schemas.microsoft.com/office/drawing/2014/main" id="{FE20FE52-FFAB-7FC2-A1EA-6E7B17556AF7}"/>
                    </a:ext>
                  </a:extLst>
                </p:cNvPr>
                <p:cNvSpPr/>
                <p:nvPr/>
              </p:nvSpPr>
              <p:spPr>
                <a:xfrm>
                  <a:off x="8191499" y="2071385"/>
                  <a:ext cx="1866901" cy="103954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600"/>
                </a:p>
              </p:txBody>
            </p:sp>
            <p:sp>
              <p:nvSpPr>
                <p:cNvPr id="24" name="TextBox 23">
                  <a:extLst>
                    <a:ext uri="{FF2B5EF4-FFF2-40B4-BE49-F238E27FC236}">
                      <a16:creationId xmlns:a16="http://schemas.microsoft.com/office/drawing/2014/main" id="{5CF22CD4-6B44-70D3-C7A0-2C049F47B5E1}"/>
                    </a:ext>
                  </a:extLst>
                </p:cNvPr>
                <p:cNvSpPr txBox="1"/>
                <p:nvPr/>
              </p:nvSpPr>
              <p:spPr>
                <a:xfrm>
                  <a:off x="9259038" y="2099094"/>
                  <a:ext cx="794517" cy="3206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Node 1</a:t>
                  </a:r>
                </a:p>
              </p:txBody>
            </p:sp>
          </p:grpSp>
          <p:grpSp>
            <p:nvGrpSpPr>
              <p:cNvPr id="21" name="Group 20">
                <a:extLst>
                  <a:ext uri="{FF2B5EF4-FFF2-40B4-BE49-F238E27FC236}">
                    <a16:creationId xmlns:a16="http://schemas.microsoft.com/office/drawing/2014/main" id="{D7B855E8-5ED6-99C7-E0BA-1432F7054BF2}"/>
                  </a:ext>
                </a:extLst>
              </p:cNvPr>
              <p:cNvGrpSpPr/>
              <p:nvPr/>
            </p:nvGrpSpPr>
            <p:grpSpPr>
              <a:xfrm>
                <a:off x="8254999" y="2010876"/>
                <a:ext cx="1866901" cy="1039542"/>
                <a:chOff x="8191499" y="2071385"/>
                <a:chExt cx="1866901" cy="1039542"/>
              </a:xfrm>
            </p:grpSpPr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7F63D91F-4491-AC79-4010-24D21B51883F}"/>
                    </a:ext>
                  </a:extLst>
                </p:cNvPr>
                <p:cNvSpPr/>
                <p:nvPr/>
              </p:nvSpPr>
              <p:spPr>
                <a:xfrm>
                  <a:off x="8191499" y="2071385"/>
                  <a:ext cx="1866901" cy="1039542"/>
                </a:xfrm>
                <a:prstGeom prst="rect">
                  <a:avLst/>
                </a:prstGeom>
                <a:solidFill>
                  <a:schemeClr val="accent4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1600" dirty="0"/>
                    <a:t>x</a:t>
                  </a:r>
                </a:p>
              </p:txBody>
            </p:sp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93B268C8-3FCF-D527-DF45-B3BB703811C6}"/>
                    </a:ext>
                  </a:extLst>
                </p:cNvPr>
                <p:cNvSpPr txBox="1"/>
                <p:nvPr/>
              </p:nvSpPr>
              <p:spPr>
                <a:xfrm>
                  <a:off x="8464351" y="2105615"/>
                  <a:ext cx="1345595" cy="32062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 dirty="0">
                      <a:latin typeface="Lato" panose="020F0502020204030203" pitchFamily="34" charset="0"/>
                      <a:ea typeface="Lato" panose="020F0502020204030203" pitchFamily="34" charset="0"/>
                      <a:cs typeface="Lato" panose="020F0502020204030203" pitchFamily="34" charset="0"/>
                    </a:rPr>
                    <a:t>Local Machine</a:t>
                  </a:r>
                </a:p>
              </p:txBody>
            </p:sp>
          </p:grpSp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37D89938-2DBD-70AD-A624-88F221A028A5}"/>
                  </a:ext>
                </a:extLst>
              </p:cNvPr>
              <p:cNvSpPr/>
              <p:nvPr/>
            </p:nvSpPr>
            <p:spPr>
              <a:xfrm>
                <a:off x="8591549" y="2389935"/>
                <a:ext cx="1193800" cy="528134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Host with MCP Client</a:t>
                </a:r>
              </a:p>
            </p:txBody>
          </p: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49006706-455B-2421-849A-467409944721}"/>
                  </a:ext>
                </a:extLst>
              </p:cNvPr>
              <p:cNvSpPr/>
              <p:nvPr/>
            </p:nvSpPr>
            <p:spPr>
              <a:xfrm>
                <a:off x="8591549" y="3900146"/>
                <a:ext cx="1193800" cy="528134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MCP Server</a:t>
                </a:r>
              </a:p>
            </p:txBody>
          </p:sp>
          <p:sp>
            <p:nvSpPr>
              <p:cNvPr id="13" name="Can 12">
                <a:extLst>
                  <a:ext uri="{FF2B5EF4-FFF2-40B4-BE49-F238E27FC236}">
                    <a16:creationId xmlns:a16="http://schemas.microsoft.com/office/drawing/2014/main" id="{077452DE-8C95-5DDA-3DBC-CD5FDDDD497E}"/>
                  </a:ext>
                </a:extLst>
              </p:cNvPr>
              <p:cNvSpPr/>
              <p:nvPr/>
            </p:nvSpPr>
            <p:spPr>
              <a:xfrm>
                <a:off x="8712199" y="5365418"/>
                <a:ext cx="952500" cy="802733"/>
              </a:xfrm>
              <a:prstGeom prst="can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Remote Service</a:t>
                </a:r>
              </a:p>
            </p:txBody>
          </p: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C3AFCBE6-AA49-F7BB-2270-0203CC6EC78F}"/>
                  </a:ext>
                </a:extLst>
              </p:cNvPr>
              <p:cNvCxnSpPr>
                <a:stCxn id="10" idx="2"/>
                <a:endCxn id="12" idx="0"/>
              </p:cNvCxnSpPr>
              <p:nvPr/>
            </p:nvCxnSpPr>
            <p:spPr>
              <a:xfrm>
                <a:off x="9188449" y="2918069"/>
                <a:ext cx="0" cy="982077"/>
              </a:xfrm>
              <a:prstGeom prst="straightConnector1">
                <a:avLst/>
              </a:prstGeom>
              <a:ln w="19050"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8" name="Straight Arrow Connector 17">
                <a:extLst>
                  <a:ext uri="{FF2B5EF4-FFF2-40B4-BE49-F238E27FC236}">
                    <a16:creationId xmlns:a16="http://schemas.microsoft.com/office/drawing/2014/main" id="{2BDDCACA-3EBB-764F-644A-004D045F7D96}"/>
                  </a:ext>
                </a:extLst>
              </p:cNvPr>
              <p:cNvCxnSpPr>
                <a:cxnSpLocks/>
                <a:stCxn id="12" idx="2"/>
                <a:endCxn id="13" idx="1"/>
              </p:cNvCxnSpPr>
              <p:nvPr/>
            </p:nvCxnSpPr>
            <p:spPr>
              <a:xfrm>
                <a:off x="9188449" y="4428280"/>
                <a:ext cx="0" cy="937138"/>
              </a:xfrm>
              <a:prstGeom prst="straightConnector1">
                <a:avLst/>
              </a:prstGeom>
              <a:ln w="19050"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A8B599FD-96CA-6A07-93F7-1ACE87F753AA}"/>
                  </a:ext>
                </a:extLst>
              </p:cNvPr>
              <p:cNvSpPr txBox="1"/>
              <p:nvPr/>
            </p:nvSpPr>
            <p:spPr>
              <a:xfrm>
                <a:off x="8424176" y="3101118"/>
                <a:ext cx="1528545" cy="3918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highlight>
                      <a:srgbClr val="E5E3F3"/>
                    </a:highlight>
                  </a:rPr>
                  <a:t>MCP Protocol</a:t>
                </a: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257F421-A545-325E-19AD-DD81AF83F7BC}"/>
                  </a:ext>
                </a:extLst>
              </p:cNvPr>
              <p:cNvSpPr txBox="1"/>
              <p:nvPr/>
            </p:nvSpPr>
            <p:spPr>
              <a:xfrm>
                <a:off x="8625757" y="4593288"/>
                <a:ext cx="1125387" cy="3918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highlight>
                      <a:srgbClr val="E5E3F3"/>
                    </a:highlight>
                  </a:rPr>
                  <a:t>Web APIs</a:t>
                </a:r>
              </a:p>
            </p:txBody>
          </p:sp>
        </p:grp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C98FEC3B-C529-F17A-505D-69D41E3009FB}"/>
                </a:ext>
              </a:extLst>
            </p:cNvPr>
            <p:cNvSpPr txBox="1"/>
            <p:nvPr/>
          </p:nvSpPr>
          <p:spPr>
            <a:xfrm>
              <a:off x="7013890" y="5841287"/>
              <a:ext cx="245131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Model Context Protocol </a:t>
              </a:r>
              <a:br>
                <a:rPr lang="en-US" sz="16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6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(MCP)</a:t>
              </a:r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BF52BD7D-B573-3D0B-70B5-5208DEB5BF4E}"/>
              </a:ext>
            </a:extLst>
          </p:cNvPr>
          <p:cNvGrpSpPr/>
          <p:nvPr/>
        </p:nvGrpSpPr>
        <p:grpSpPr>
          <a:xfrm>
            <a:off x="9389663" y="2564754"/>
            <a:ext cx="2543629" cy="3861308"/>
            <a:chOff x="9376963" y="2564754"/>
            <a:chExt cx="2543629" cy="3861308"/>
          </a:xfrm>
        </p:grpSpPr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465027CA-DF26-2A4D-C395-6EC2A0256CF1}"/>
                </a:ext>
              </a:extLst>
            </p:cNvPr>
            <p:cNvGrpSpPr/>
            <p:nvPr/>
          </p:nvGrpSpPr>
          <p:grpSpPr>
            <a:xfrm>
              <a:off x="9376963" y="2564754"/>
              <a:ext cx="2543629" cy="2923838"/>
              <a:chOff x="9376963" y="2564754"/>
              <a:chExt cx="2543629" cy="2923838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D2D34F29-D7FC-8EE3-EEA0-E322A4E0E03F}"/>
                  </a:ext>
                </a:extLst>
              </p:cNvPr>
              <p:cNvSpPr/>
              <p:nvPr/>
            </p:nvSpPr>
            <p:spPr>
              <a:xfrm>
                <a:off x="9376963" y="4304386"/>
                <a:ext cx="2543629" cy="118420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6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21C10F43-DED9-07E6-B998-F058A738E612}"/>
                  </a:ext>
                </a:extLst>
              </p:cNvPr>
              <p:cNvSpPr txBox="1"/>
              <p:nvPr/>
            </p:nvSpPr>
            <p:spPr>
              <a:xfrm>
                <a:off x="9980164" y="5205165"/>
                <a:ext cx="1337226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Remote Machine</a:t>
                </a:r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D53D0759-FA79-6540-DD91-7CB6604085E9}"/>
                  </a:ext>
                </a:extLst>
              </p:cNvPr>
              <p:cNvSpPr/>
              <p:nvPr/>
            </p:nvSpPr>
            <p:spPr>
              <a:xfrm>
                <a:off x="9842343" y="2564754"/>
                <a:ext cx="1612869" cy="898090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/>
                  <a:t>x</a:t>
                </a:r>
              </a:p>
            </p:txBody>
          </p:sp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FEDA04A-C3DA-55F0-D1CC-6EEE2D27A74C}"/>
                  </a:ext>
                </a:extLst>
              </p:cNvPr>
              <p:cNvSpPr txBox="1"/>
              <p:nvPr/>
            </p:nvSpPr>
            <p:spPr>
              <a:xfrm>
                <a:off x="10067528" y="2594326"/>
                <a:ext cx="116249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Local Machine</a:t>
                </a: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68306D3-E6D6-7B05-AFF3-50D0F724B66B}"/>
                  </a:ext>
                </a:extLst>
              </p:cNvPr>
              <p:cNvSpPr/>
              <p:nvPr/>
            </p:nvSpPr>
            <p:spPr>
              <a:xfrm>
                <a:off x="10133098" y="2892234"/>
                <a:ext cx="1031358" cy="456270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Agent with UTCP Client</a:t>
                </a:r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F5BDFA23-D480-8C72-3F5B-EC67AAE9B841}"/>
                  </a:ext>
                </a:extLst>
              </p:cNvPr>
              <p:cNvSpPr/>
              <p:nvPr/>
            </p:nvSpPr>
            <p:spPr>
              <a:xfrm>
                <a:off x="9558846" y="4416105"/>
                <a:ext cx="2179862" cy="795515"/>
              </a:xfrm>
              <a:prstGeom prst="rect">
                <a:avLst/>
              </a:prstGeom>
              <a:ln/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200" b="1" dirty="0">
                  <a:solidFill>
                    <a:schemeClr val="bg1"/>
                  </a:solidFill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endParaRPr>
              </a:p>
            </p:txBody>
          </p: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268C720D-AD4D-A827-D066-729866D8422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0058401" y="3360269"/>
                <a:ext cx="373201" cy="1055836"/>
              </a:xfrm>
              <a:prstGeom prst="straightConnector1">
                <a:avLst/>
              </a:prstGeom>
              <a:ln w="19050">
                <a:headEnd type="triangle" w="med" len="med"/>
                <a:tailEnd type="triangl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BA3FF58-1A3D-3D77-C5B6-E2FD89FC77C0}"/>
                  </a:ext>
                </a:extLst>
              </p:cNvPr>
              <p:cNvSpPr txBox="1"/>
              <p:nvPr/>
            </p:nvSpPr>
            <p:spPr>
              <a:xfrm>
                <a:off x="9962825" y="3610927"/>
                <a:ext cx="569900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highlight>
                      <a:srgbClr val="E5E3F3"/>
                    </a:highlight>
                  </a:rPr>
                  <a:t>Web</a:t>
                </a:r>
                <a:br>
                  <a:rPr lang="en-US" sz="1600" dirty="0">
                    <a:highlight>
                      <a:srgbClr val="E5E3F3"/>
                    </a:highlight>
                  </a:rPr>
                </a:br>
                <a:r>
                  <a:rPr lang="en-US" sz="1600" dirty="0">
                    <a:highlight>
                      <a:srgbClr val="E5E3F3"/>
                    </a:highlight>
                  </a:rPr>
                  <a:t>APIs</a:t>
                </a:r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ADCC30E4-A151-796F-1C35-F82C90CFFC63}"/>
                  </a:ext>
                </a:extLst>
              </p:cNvPr>
              <p:cNvSpPr txBox="1"/>
              <p:nvPr/>
            </p:nvSpPr>
            <p:spPr>
              <a:xfrm>
                <a:off x="10097184" y="4928170"/>
                <a:ext cx="1116011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b="1" dirty="0">
                    <a:solidFill>
                      <a:schemeClr val="bg1"/>
                    </a:solidFill>
                    <a:latin typeface="Lato" panose="020F0502020204030203" pitchFamily="34" charset="0"/>
                    <a:ea typeface="Lato" panose="020F0502020204030203" pitchFamily="34" charset="0"/>
                    <a:cs typeface="Lato" panose="020F0502020204030203" pitchFamily="34" charset="0"/>
                  </a:rPr>
                  <a:t>Tool Provider</a:t>
                </a: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61C28144-19D0-C4C3-9315-B9FCCF585712}"/>
                  </a:ext>
                </a:extLst>
              </p:cNvPr>
              <p:cNvSpPr/>
              <p:nvPr/>
            </p:nvSpPr>
            <p:spPr>
              <a:xfrm>
                <a:off x="9650870" y="4485199"/>
                <a:ext cx="628332" cy="23269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Tool 1</a:t>
                </a:r>
              </a:p>
            </p:txBody>
          </p:sp>
          <p:sp>
            <p:nvSpPr>
              <p:cNvPr id="42" name="Rectangle 41">
                <a:extLst>
                  <a:ext uri="{FF2B5EF4-FFF2-40B4-BE49-F238E27FC236}">
                    <a16:creationId xmlns:a16="http://schemas.microsoft.com/office/drawing/2014/main" id="{77338C1D-4D2F-C022-AB8A-387429631F83}"/>
                  </a:ext>
                </a:extLst>
              </p:cNvPr>
              <p:cNvSpPr/>
              <p:nvPr/>
            </p:nvSpPr>
            <p:spPr>
              <a:xfrm>
                <a:off x="9803270" y="4693787"/>
                <a:ext cx="628332" cy="232693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Tool 2</a:t>
                </a:r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D42A5AC4-ACFD-B0D9-78C3-5309E968E36A}"/>
                  </a:ext>
                </a:extLst>
              </p:cNvPr>
              <p:cNvSpPr/>
              <p:nvPr/>
            </p:nvSpPr>
            <p:spPr>
              <a:xfrm>
                <a:off x="10795170" y="4490142"/>
                <a:ext cx="811397" cy="43633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200" dirty="0"/>
                  <a:t>UTCP Manuals</a:t>
                </a:r>
              </a:p>
            </p:txBody>
          </p:sp>
          <p:cxnSp>
            <p:nvCxnSpPr>
              <p:cNvPr id="46" name="Straight Arrow Connector 45">
                <a:extLst>
                  <a:ext uri="{FF2B5EF4-FFF2-40B4-BE49-F238E27FC236}">
                    <a16:creationId xmlns:a16="http://schemas.microsoft.com/office/drawing/2014/main" id="{D666A6C5-774A-B87F-0219-4F4F9D510F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848848" y="3360269"/>
                <a:ext cx="351523" cy="1055836"/>
              </a:xfrm>
              <a:prstGeom prst="straightConnector1">
                <a:avLst/>
              </a:prstGeom>
              <a:ln w="19050">
                <a:headEnd type="triangle" w="med" len="med"/>
                <a:tailEnd type="none" w="med" len="med"/>
              </a:ln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17D6CF49-0749-70AE-7AE8-B9340ADFE9D6}"/>
                  </a:ext>
                </a:extLst>
              </p:cNvPr>
              <p:cNvSpPr txBox="1"/>
              <p:nvPr/>
            </p:nvSpPr>
            <p:spPr>
              <a:xfrm>
                <a:off x="10648777" y="3638451"/>
                <a:ext cx="884538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600" dirty="0">
                    <a:highlight>
                      <a:srgbClr val="E5E3F3"/>
                    </a:highlight>
                  </a:rPr>
                  <a:t>UTCP</a:t>
                </a:r>
                <a:br>
                  <a:rPr lang="en-US" sz="1600" dirty="0">
                    <a:highlight>
                      <a:srgbClr val="E5E3F3"/>
                    </a:highlight>
                  </a:rPr>
                </a:br>
                <a:r>
                  <a:rPr lang="en-US" sz="1600" dirty="0">
                    <a:highlight>
                      <a:srgbClr val="E5E3F3"/>
                    </a:highlight>
                  </a:rPr>
                  <a:t>Protocol</a:t>
                </a:r>
              </a:p>
            </p:txBody>
          </p:sp>
        </p:grp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9A7094B4-2FB8-4B2D-F3BE-BD19E82625D4}"/>
                </a:ext>
              </a:extLst>
            </p:cNvPr>
            <p:cNvSpPr txBox="1"/>
            <p:nvPr/>
          </p:nvSpPr>
          <p:spPr>
            <a:xfrm>
              <a:off x="9556415" y="5841287"/>
              <a:ext cx="2226892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Universal Tool Calling </a:t>
              </a:r>
              <a:br>
                <a:rPr lang="en-US" sz="16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</a:br>
              <a:r>
                <a:rPr lang="en-US" sz="1600" b="1" dirty="0">
                  <a:latin typeface="Lato" panose="020F0502020204030203" pitchFamily="34" charset="0"/>
                  <a:ea typeface="Lato" panose="020F0502020204030203" pitchFamily="34" charset="0"/>
                  <a:cs typeface="Lato" panose="020F0502020204030203" pitchFamily="34" charset="0"/>
                </a:rPr>
                <a:t>Protocol (UTCP)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24450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lang="en-IE" sz="4226" b="1" dirty="0">
                <a:solidFill>
                  <a:schemeClr val="accent1"/>
                </a:solidFill>
              </a:rPr>
              <a:t>Open vs Controlled Environments</a:t>
            </a:r>
            <a:endParaRPr sz="4226" b="1" dirty="0">
              <a:solidFill>
                <a:schemeClr val="accent1"/>
              </a:solidFill>
            </a:endParaRPr>
          </a:p>
        </p:txBody>
      </p:sp>
      <p:sp>
        <p:nvSpPr>
          <p:cNvPr id="5" name="managed_heading">
            <a:extLst>
              <a:ext uri="{FF2B5EF4-FFF2-40B4-BE49-F238E27FC236}">
                <a16:creationId xmlns:a16="http://schemas.microsoft.com/office/drawing/2014/main" id="{37EF6C29-AC63-4BE7-98EA-5E2282B03E1D}"/>
              </a:ext>
            </a:extLst>
          </p:cNvPr>
          <p:cNvSpPr>
            <a:spLocks noGrp="1"/>
          </p:cNvSpPr>
          <p:nvPr/>
        </p:nvSpPr>
        <p:spPr>
          <a:xfrm>
            <a:off x="619125" y="2139040"/>
            <a:ext cx="47625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 dirty="0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Controlled environments</a:t>
            </a:r>
          </a:p>
        </p:txBody>
      </p:sp>
      <p:sp>
        <p:nvSpPr>
          <p:cNvPr id="6" name="open_heading">
            <a:extLst>
              <a:ext uri="{FF2B5EF4-FFF2-40B4-BE49-F238E27FC236}">
                <a16:creationId xmlns:a16="http://schemas.microsoft.com/office/drawing/2014/main" id="{ACC4AC7D-5B68-471B-A33C-381A5E3B0CFF}"/>
              </a:ext>
            </a:extLst>
          </p:cNvPr>
          <p:cNvSpPr>
            <a:spLocks noGrp="1"/>
          </p:cNvSpPr>
          <p:nvPr/>
        </p:nvSpPr>
        <p:spPr>
          <a:xfrm>
            <a:off x="6381750" y="2139040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 dirty="0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Open environments</a:t>
            </a:r>
          </a:p>
        </p:txBody>
      </p:sp>
      <p:sp>
        <p:nvSpPr>
          <p:cNvPr id="7" name="managed_0">
            <a:extLst>
              <a:ext uri="{FF2B5EF4-FFF2-40B4-BE49-F238E27FC236}">
                <a16:creationId xmlns:a16="http://schemas.microsoft.com/office/drawing/2014/main" id="{5E6D2B54-E219-41B9-BDE7-500C0433AB86}"/>
              </a:ext>
            </a:extLst>
          </p:cNvPr>
          <p:cNvSpPr>
            <a:spLocks noGrp="1"/>
          </p:cNvSpPr>
          <p:nvPr/>
        </p:nvSpPr>
        <p:spPr>
          <a:xfrm>
            <a:off x="619125" y="2805790"/>
            <a:ext cx="4762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950" b="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A single curator selects </a:t>
            </a:r>
            <a:r>
              <a:rPr lang="en-IE" sz="1950" b="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what </a:t>
            </a:r>
            <a:r>
              <a:rPr sz="1950" b="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agents, resources and services</a:t>
            </a:r>
            <a:r>
              <a:rPr lang="en-IE" sz="1950" b="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 exist.</a:t>
            </a:r>
            <a:endParaRPr sz="1950" b="0" dirty="0">
              <a:solidFill>
                <a:srgbClr val="000000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8" name="open_0">
            <a:extLst>
              <a:ext uri="{FF2B5EF4-FFF2-40B4-BE49-F238E27FC236}">
                <a16:creationId xmlns:a16="http://schemas.microsoft.com/office/drawing/2014/main" id="{0B1C7B22-310C-4880-8392-9F71EF714CF6}"/>
              </a:ext>
            </a:extLst>
          </p:cNvPr>
          <p:cNvSpPr>
            <a:spLocks noGrp="1"/>
          </p:cNvSpPr>
          <p:nvPr/>
        </p:nvSpPr>
        <p:spPr>
          <a:xfrm>
            <a:off x="6381750" y="2805790"/>
            <a:ext cx="5356594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950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The domain of multiple curators.</a:t>
            </a:r>
          </a:p>
        </p:txBody>
      </p:sp>
      <p:sp>
        <p:nvSpPr>
          <p:cNvPr id="9" name="managed_1">
            <a:extLst>
              <a:ext uri="{FF2B5EF4-FFF2-40B4-BE49-F238E27FC236}">
                <a16:creationId xmlns:a16="http://schemas.microsoft.com/office/drawing/2014/main" id="{A64D023C-840B-4506-A4E2-A6493A3953FE}"/>
              </a:ext>
            </a:extLst>
          </p:cNvPr>
          <p:cNvSpPr>
            <a:spLocks noGrp="1"/>
          </p:cNvSpPr>
          <p:nvPr/>
        </p:nvSpPr>
        <p:spPr>
          <a:xfrm>
            <a:off x="619125" y="3710665"/>
            <a:ext cx="5191126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950" b="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Process meanings and changes are reconciled by the curator.</a:t>
            </a:r>
          </a:p>
        </p:txBody>
      </p:sp>
      <p:sp>
        <p:nvSpPr>
          <p:cNvPr id="10" name="open_1">
            <a:extLst>
              <a:ext uri="{FF2B5EF4-FFF2-40B4-BE49-F238E27FC236}">
                <a16:creationId xmlns:a16="http://schemas.microsoft.com/office/drawing/2014/main" id="{7A13B9DC-172E-4F9C-8743-9F09693BBE47}"/>
              </a:ext>
            </a:extLst>
          </p:cNvPr>
          <p:cNvSpPr>
            <a:spLocks noGrp="1"/>
          </p:cNvSpPr>
          <p:nvPr/>
        </p:nvSpPr>
        <p:spPr>
          <a:xfrm>
            <a:off x="6381750" y="3710665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lang="en-IE" sz="1950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Processes reflect different perspectives and evolve independently.</a:t>
            </a:r>
            <a:endParaRPr sz="2100" b="0" dirty="0">
              <a:solidFill>
                <a:srgbClr val="0D3020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11" name="managed_2">
            <a:extLst>
              <a:ext uri="{FF2B5EF4-FFF2-40B4-BE49-F238E27FC236}">
                <a16:creationId xmlns:a16="http://schemas.microsoft.com/office/drawing/2014/main" id="{4749CA81-DAC1-4F00-A80B-811258515CF1}"/>
              </a:ext>
            </a:extLst>
          </p:cNvPr>
          <p:cNvSpPr>
            <a:spLocks noGrp="1"/>
          </p:cNvSpPr>
          <p:nvPr/>
        </p:nvSpPr>
        <p:spPr>
          <a:xfrm>
            <a:off x="619125" y="4615540"/>
            <a:ext cx="4762500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5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950" b="0" dirty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Access rights and responsibilities are pre-assigned by the curator.</a:t>
            </a:r>
          </a:p>
        </p:txBody>
      </p:sp>
      <p:sp>
        <p:nvSpPr>
          <p:cNvPr id="12" name="open_2">
            <a:extLst>
              <a:ext uri="{FF2B5EF4-FFF2-40B4-BE49-F238E27FC236}">
                <a16:creationId xmlns:a16="http://schemas.microsoft.com/office/drawing/2014/main" id="{5746BFEC-4123-48FF-8FD3-B8E3B494ACD2}"/>
              </a:ext>
            </a:extLst>
          </p:cNvPr>
          <p:cNvSpPr>
            <a:spLocks noGrp="1"/>
          </p:cNvSpPr>
          <p:nvPr/>
        </p:nvSpPr>
        <p:spPr>
          <a:xfrm>
            <a:off x="6381750" y="4615540"/>
            <a:ext cx="5095875" cy="809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950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Rights and responsibilities established at runtime through diverse means.</a:t>
            </a:r>
          </a:p>
        </p:txBody>
      </p:sp>
      <p:sp>
        <p:nvSpPr>
          <p:cNvPr id="13" name="openness_question">
            <a:extLst>
              <a:ext uri="{FF2B5EF4-FFF2-40B4-BE49-F238E27FC236}">
                <a16:creationId xmlns:a16="http://schemas.microsoft.com/office/drawing/2014/main" id="{103A9B5D-71B7-444B-9C5C-129A8B3CA355}"/>
              </a:ext>
            </a:extLst>
          </p:cNvPr>
          <p:cNvSpPr>
            <a:spLocks noGrp="1"/>
          </p:cNvSpPr>
          <p:nvPr/>
        </p:nvSpPr>
        <p:spPr>
          <a:xfrm>
            <a:off x="619125" y="5750378"/>
            <a:ext cx="11321238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>
              <a:defRPr sz="22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lang="en-IE" sz="2000" dirty="0"/>
              <a:t>Openness demands agents that can discover and work with unfamiliar resources, services and other agents.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963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 dirty="0">
                <a:solidFill>
                  <a:schemeClr val="accent1"/>
                </a:solidFill>
              </a:rPr>
              <a:t>A laboratory task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FA23A60-1A2B-4F13-A0F1-B34E309EBD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9" b="5579"/>
          <a:stretch>
            <a:fillRect/>
          </a:stretch>
        </p:blipFill>
        <p:spPr>
          <a:xfrm>
            <a:off x="1619250" y="2190750"/>
            <a:ext cx="8953500" cy="4476750"/>
          </a:xfrm>
          <a:prstGeom prst="rect">
            <a:avLst/>
          </a:prstGeom>
        </p:spPr>
      </p:pic>
      <p:sp>
        <p:nvSpPr>
          <p:cNvPr id="5" name="task">
            <a:extLst>
              <a:ext uri="{FF2B5EF4-FFF2-40B4-BE49-F238E27FC236}">
                <a16:creationId xmlns:a16="http://schemas.microsoft.com/office/drawing/2014/main" id="{90B6A751-656A-4F21-8D86-823F8BFB7E2C}"/>
              </a:ext>
            </a:extLst>
          </p:cNvPr>
          <p:cNvSpPr>
            <a:spLocks noGrp="1"/>
          </p:cNvSpPr>
          <p:nvPr/>
        </p:nvSpPr>
        <p:spPr>
          <a:xfrm>
            <a:off x="619125" y="1743075"/>
            <a:ext cx="10953750" cy="7239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75" b="1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“Find a suitable instrument, reserve it within my budget,</a:t>
            </a:r>
          </a:p>
          <a:p>
            <a: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75" b="1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and tell me when it is ready.”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39609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The MCP/A2A laboratory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B5E3AB1-748E-49DF-A963-1BF8A1696B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9" b="5579"/>
          <a:stretch>
            <a:fillRect/>
          </a:stretch>
        </p:blipFill>
        <p:spPr>
          <a:xfrm>
            <a:off x="1619250" y="2190750"/>
            <a:ext cx="8953500" cy="4476750"/>
          </a:xfrm>
          <a:prstGeom prst="rect">
            <a:avLst/>
          </a:prstGeom>
        </p:spPr>
      </p:pic>
      <p:sp>
        <p:nvSpPr>
          <p:cNvPr id="22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11</a:t>
            </a:fld>
            <a:endParaRPr lang="en-US"/>
          </a:p>
        </p:txBody>
      </p:sp>
      <p:grpSp>
        <p:nvGrpSpPr>
          <p:cNvPr id="23" name="Build 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anim1_research">
              <a:extLst>
                <a:ext uri="{FF2B5EF4-FFF2-40B4-BE49-F238E27FC236}">
                  <a16:creationId xmlns:a16="http://schemas.microsoft.com/office/drawing/2014/main" id="{BBE72232-8EA3-49F7-A695-B0A26F333E0B}"/>
                </a:ext>
              </a:extLst>
            </p:cNvPr>
            <p:cNvSpPr>
              <a:spLocks noGrp="1"/>
            </p:cNvSpPr>
            <p:nvPr/>
          </p:nvSpPr>
          <p:spPr>
            <a:xfrm>
              <a:off x="619125" y="1866900"/>
              <a:ext cx="2190750" cy="590550"/>
            </a:xfrm>
            <a:prstGeom prst="roundRect">
              <a:avLst>
                <a:gd name="adj" fmla="val 16129"/>
              </a:avLst>
            </a:prstGeom>
            <a:solidFill>
              <a:srgbClr val="FAFAFA"/>
            </a:solidFill>
            <a:ln w="19050">
              <a:solidFill>
                <a:srgbClr val="FF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nim1_research_label">
              <a:extLst>
                <a:ext uri="{FF2B5EF4-FFF2-40B4-BE49-F238E27FC236}">
                  <a16:creationId xmlns:a16="http://schemas.microsoft.com/office/drawing/2014/main" id="{5551E51C-BF58-4B20-ABA7-1CC774FA3F41}"/>
                </a:ext>
              </a:extLst>
            </p:cNvPr>
            <p:cNvSpPr>
              <a:spLocks noGrp="1"/>
            </p:cNvSpPr>
            <p:nvPr/>
          </p:nvSpPr>
          <p:spPr>
            <a:xfrm>
              <a:off x="733425" y="1962150"/>
              <a:ext cx="19621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00" b="1" dirty="0">
                  <a:solidFill>
                    <a:srgbClr val="FF0000"/>
                  </a:solidFill>
                  <a:latin typeface="Noto Sans"/>
                  <a:ea typeface="Noto Sans"/>
                  <a:cs typeface="Noto Sans"/>
                </a:rPr>
                <a:t>Research</a:t>
              </a:r>
              <a:r>
                <a:rPr sz="1800" b="1" dirty="0">
                  <a:solidFill>
                    <a:srgbClr val="005A9C"/>
                  </a:solidFill>
                  <a:latin typeface="Noto Sans"/>
                  <a:ea typeface="Noto Sans"/>
                  <a:cs typeface="Noto Sans"/>
                </a:rPr>
                <a:t> </a:t>
              </a:r>
              <a:r>
                <a:rPr sz="1800" b="1" dirty="0">
                  <a:solidFill>
                    <a:srgbClr val="FF0000"/>
                  </a:solidFill>
                  <a:latin typeface="Noto Sans"/>
                  <a:ea typeface="Noto Sans"/>
                  <a:cs typeface="Noto Sans"/>
                </a:rPr>
                <a:t>agent</a:t>
              </a:r>
            </a:p>
          </p:txBody>
        </p:sp>
        <p:sp>
          <p:nvSpPr>
            <p:cNvPr id="7" name="anim1_user">
              <a:extLst>
                <a:ext uri="{FF2B5EF4-FFF2-40B4-BE49-F238E27FC236}">
                  <a16:creationId xmlns:a16="http://schemas.microsoft.com/office/drawing/2014/main" id="{9F132B97-56B5-44C2-9078-5AA771D65E78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2457450"/>
              <a:ext cx="666750" cy="2209800"/>
            </a:xfrm>
            <a:custGeom>
              <a:avLst/>
              <a:gdLst/>
              <a:ahLst/>
              <a:cxnLst/>
              <a:rect l="0" t="0" r="0" b="0"/>
              <a:pathLst>
                <a:path w="666750" h="2209800">
                  <a:moveTo>
                    <a:pt x="0" y="0"/>
                  </a:moveTo>
                  <a:lnTo>
                    <a:pt x="0" y="2209800"/>
                  </a:lnTo>
                  <a:lnTo>
                    <a:pt x="666750" y="2209800"/>
                  </a:lnTo>
                </a:path>
              </a:pathLst>
            </a:custGeom>
            <a:noFill/>
            <a:ln w="20955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" name="Build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8" name="anim2_mcp">
              <a:extLst>
                <a:ext uri="{FF2B5EF4-FFF2-40B4-BE49-F238E27FC236}">
                  <a16:creationId xmlns:a16="http://schemas.microsoft.com/office/drawing/2014/main" id="{022D8E59-F9F8-4619-9ED5-655E3A15BB5B}"/>
                </a:ext>
              </a:extLst>
            </p:cNvPr>
            <p:cNvSpPr>
              <a:spLocks noGrp="1"/>
            </p:cNvSpPr>
            <p:nvPr/>
          </p:nvSpPr>
          <p:spPr>
            <a:xfrm>
              <a:off x="4619625" y="1866900"/>
              <a:ext cx="2952750" cy="781050"/>
            </a:xfrm>
            <a:prstGeom prst="roundRect">
              <a:avLst>
                <a:gd name="adj" fmla="val 12195"/>
              </a:avLst>
            </a:prstGeom>
            <a:solidFill>
              <a:srgbClr val="FAFAFA"/>
            </a:solidFill>
            <a:ln w="19050">
              <a:solidFill>
                <a:srgbClr val="FF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nim2_mcp_label">
              <a:extLst>
                <a:ext uri="{FF2B5EF4-FFF2-40B4-BE49-F238E27FC236}">
                  <a16:creationId xmlns:a16="http://schemas.microsoft.com/office/drawing/2014/main" id="{B8A6F4AA-413F-4AB5-91BC-1B6DE7095A38}"/>
                </a:ext>
              </a:extLst>
            </p:cNvPr>
            <p:cNvSpPr>
              <a:spLocks noGrp="1"/>
            </p:cNvSpPr>
            <p:nvPr/>
          </p:nvSpPr>
          <p:spPr>
            <a:xfrm>
              <a:off x="4733925" y="1962150"/>
              <a:ext cx="27241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00" b="1" dirty="0">
                  <a:solidFill>
                    <a:srgbClr val="FF0000"/>
                  </a:solidFill>
                  <a:latin typeface="Noto Sans"/>
                  <a:ea typeface="Noto Sans"/>
                  <a:cs typeface="Noto Sans"/>
                </a:rPr>
                <a:t>Lab MCP server</a:t>
              </a:r>
            </a:p>
          </p:txBody>
        </p:sp>
        <p:sp>
          <p:nvSpPr>
            <p:cNvPr id="10" name="anim2_mcp_sub">
              <a:extLst>
                <a:ext uri="{FF2B5EF4-FFF2-40B4-BE49-F238E27FC236}">
                  <a16:creationId xmlns:a16="http://schemas.microsoft.com/office/drawing/2014/main" id="{22CAD073-A6EC-4BAE-ACFD-8ECFBDDD9520}"/>
                </a:ext>
              </a:extLst>
            </p:cNvPr>
            <p:cNvSpPr>
              <a:spLocks noGrp="1"/>
            </p:cNvSpPr>
            <p:nvPr/>
          </p:nvSpPr>
          <p:spPr>
            <a:xfrm>
              <a:off x="4714875" y="2276475"/>
              <a:ext cx="2762250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00" b="0">
                  <a:solidFill>
                    <a:srgbClr val="FF0000"/>
                  </a:solidFill>
                  <a:latin typeface="Noto Sans"/>
                  <a:ea typeface="Noto Sans"/>
                  <a:cs typeface="Noto Sans"/>
                </a:rPr>
                <a:t>Find · reserve · read status</a:t>
              </a:r>
            </a:p>
          </p:txBody>
        </p:sp>
        <p:sp>
          <p:nvSpPr>
            <p:cNvPr id="11" name="anim2_call">
              <a:extLst>
                <a:ext uri="{FF2B5EF4-FFF2-40B4-BE49-F238E27FC236}">
                  <a16:creationId xmlns:a16="http://schemas.microsoft.com/office/drawing/2014/main" id="{38E0EE2B-DB69-4824-97DB-54040B19A22A}"/>
                </a:ext>
              </a:extLst>
            </p:cNvPr>
            <p:cNvSpPr>
              <a:spLocks noGrp="1"/>
            </p:cNvSpPr>
            <p:nvPr/>
          </p:nvSpPr>
          <p:spPr>
            <a:xfrm>
              <a:off x="2809875" y="2162175"/>
              <a:ext cx="1714500" cy="9525"/>
            </a:xfrm>
            <a:custGeom>
              <a:avLst/>
              <a:gdLst/>
              <a:ahLst/>
              <a:cxnLst/>
              <a:rect l="0" t="0" r="0" b="0"/>
              <a:pathLst>
                <a:path w="1714500" h="9525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noFill/>
            <a:ln w="20955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nim2_call_arrow">
              <a:extLst>
                <a:ext uri="{FF2B5EF4-FFF2-40B4-BE49-F238E27FC236}">
                  <a16:creationId xmlns:a16="http://schemas.microsoft.com/office/drawing/2014/main" id="{6C4B8BF7-B0FE-4554-8F01-2A23ADF6307E}"/>
                </a:ext>
              </a:extLst>
            </p:cNvPr>
            <p:cNvSpPr>
              <a:spLocks noGrp="1"/>
            </p:cNvSpPr>
            <p:nvPr/>
          </p:nvSpPr>
          <p:spPr>
            <a:xfrm>
              <a:off x="4438650" y="211455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85725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5A9C"/>
            </a:solidFill>
            <a:ln w="0">
              <a:solidFill>
                <a:srgbClr val="005A9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anim2_mcp_label">
              <a:extLst>
                <a:ext uri="{FF2B5EF4-FFF2-40B4-BE49-F238E27FC236}">
                  <a16:creationId xmlns:a16="http://schemas.microsoft.com/office/drawing/2014/main" id="{9E92CFA5-126F-4B92-914C-955444AED032}"/>
                </a:ext>
              </a:extLst>
            </p:cNvPr>
            <p:cNvSpPr>
              <a:spLocks noGrp="1"/>
            </p:cNvSpPr>
            <p:nvPr/>
          </p:nvSpPr>
          <p:spPr>
            <a:xfrm>
              <a:off x="3333750" y="1895475"/>
              <a:ext cx="904875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75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75" b="1" dirty="0">
                  <a:solidFill>
                    <a:srgbClr val="FF0000"/>
                  </a:solidFill>
                  <a:latin typeface="Noto Sans"/>
                  <a:ea typeface="Noto Sans"/>
                  <a:cs typeface="Noto Sans"/>
                </a:rPr>
                <a:t>MCP</a:t>
              </a:r>
            </a:p>
          </p:txBody>
        </p:sp>
        <p:sp>
          <p:nvSpPr>
            <p:cNvPr id="14" name="anim2_instrument">
              <a:extLst>
                <a:ext uri="{FF2B5EF4-FFF2-40B4-BE49-F238E27FC236}">
                  <a16:creationId xmlns:a16="http://schemas.microsoft.com/office/drawing/2014/main" id="{BA2A1033-B554-488F-92D8-2C734489BB37}"/>
                </a:ext>
              </a:extLst>
            </p:cNvPr>
            <p:cNvSpPr>
              <a:spLocks noGrp="1"/>
            </p:cNvSpPr>
            <p:nvPr/>
          </p:nvSpPr>
          <p:spPr>
            <a:xfrm>
              <a:off x="5715000" y="2647950"/>
              <a:ext cx="3048000" cy="1266825"/>
            </a:xfrm>
            <a:custGeom>
              <a:avLst/>
              <a:gdLst/>
              <a:ahLst/>
              <a:cxnLst/>
              <a:rect l="0" t="0" r="0" b="0"/>
              <a:pathLst>
                <a:path w="3048000" h="1266825">
                  <a:moveTo>
                    <a:pt x="0" y="0"/>
                  </a:moveTo>
                  <a:lnTo>
                    <a:pt x="0" y="304800"/>
                  </a:lnTo>
                  <a:lnTo>
                    <a:pt x="3048000" y="304800"/>
                  </a:lnTo>
                  <a:lnTo>
                    <a:pt x="3048000" y="1266825"/>
                  </a:lnTo>
                </a:path>
              </a:pathLst>
            </a:custGeom>
            <a:noFill/>
            <a:ln w="20955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anim2_bookings">
              <a:extLst>
                <a:ext uri="{FF2B5EF4-FFF2-40B4-BE49-F238E27FC236}">
                  <a16:creationId xmlns:a16="http://schemas.microsoft.com/office/drawing/2014/main" id="{81E4C974-49B3-4B6D-A1C0-51A38CDF991D}"/>
                </a:ext>
              </a:extLst>
            </p:cNvPr>
            <p:cNvSpPr>
              <a:spLocks noGrp="1"/>
            </p:cNvSpPr>
            <p:nvPr/>
          </p:nvSpPr>
          <p:spPr>
            <a:xfrm>
              <a:off x="6286500" y="2647950"/>
              <a:ext cx="333375" cy="3400425"/>
            </a:xfrm>
            <a:custGeom>
              <a:avLst/>
              <a:gdLst/>
              <a:ahLst/>
              <a:cxnLst/>
              <a:rect l="0" t="0" r="0" b="0"/>
              <a:pathLst>
                <a:path w="333375" h="3400425">
                  <a:moveTo>
                    <a:pt x="0" y="0"/>
                  </a:moveTo>
                  <a:lnTo>
                    <a:pt x="0" y="2971800"/>
                  </a:lnTo>
                  <a:lnTo>
                    <a:pt x="333375" y="2971800"/>
                  </a:lnTo>
                  <a:lnTo>
                    <a:pt x="333375" y="3400425"/>
                  </a:lnTo>
                </a:path>
              </a:pathLst>
            </a:custGeom>
            <a:noFill/>
            <a:ln w="20955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5" name="Build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6" name="anim3_facility">
              <a:extLst>
                <a:ext uri="{FF2B5EF4-FFF2-40B4-BE49-F238E27FC236}">
                  <a16:creationId xmlns:a16="http://schemas.microsoft.com/office/drawing/2014/main" id="{F0E986B9-E77B-4EE0-9997-6009E7F13CF8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1866900"/>
              <a:ext cx="2333625" cy="590550"/>
            </a:xfrm>
            <a:prstGeom prst="roundRect">
              <a:avLst>
                <a:gd name="adj" fmla="val 16129"/>
              </a:avLst>
            </a:prstGeom>
            <a:solidFill>
              <a:srgbClr val="FAFAFA"/>
            </a:solidFill>
            <a:ln w="19050">
              <a:solidFill>
                <a:srgbClr val="FF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anim3_facility_label">
              <a:extLst>
                <a:ext uri="{FF2B5EF4-FFF2-40B4-BE49-F238E27FC236}">
                  <a16:creationId xmlns:a16="http://schemas.microsoft.com/office/drawing/2014/main" id="{C3099D81-4033-4BDF-9684-046470E13751}"/>
                </a:ext>
              </a:extLst>
            </p:cNvPr>
            <p:cNvSpPr>
              <a:spLocks noGrp="1"/>
            </p:cNvSpPr>
            <p:nvPr/>
          </p:nvSpPr>
          <p:spPr>
            <a:xfrm>
              <a:off x="9258300" y="1962150"/>
              <a:ext cx="2105025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00" b="1" dirty="0">
                  <a:solidFill>
                    <a:srgbClr val="FF0000"/>
                  </a:solidFill>
                  <a:latin typeface="Noto Sans"/>
                  <a:ea typeface="Noto Sans"/>
                  <a:cs typeface="Noto Sans"/>
                </a:rPr>
                <a:t>Facility agent</a:t>
              </a:r>
            </a:p>
          </p:txBody>
        </p:sp>
        <p:sp>
          <p:nvSpPr>
            <p:cNvPr id="18" name="anim3_delegate">
              <a:extLst>
                <a:ext uri="{FF2B5EF4-FFF2-40B4-BE49-F238E27FC236}">
                  <a16:creationId xmlns:a16="http://schemas.microsoft.com/office/drawing/2014/main" id="{A5AFC5F1-E584-476F-A880-E4E44E8DEC45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1781175"/>
              <a:ext cx="8591550" cy="85725"/>
            </a:xfrm>
            <a:custGeom>
              <a:avLst/>
              <a:gdLst/>
              <a:ahLst/>
              <a:cxnLst/>
              <a:rect l="0" t="0" r="0" b="0"/>
              <a:pathLst>
                <a:path w="8591550" h="85725">
                  <a:moveTo>
                    <a:pt x="0" y="85725"/>
                  </a:moveTo>
                  <a:lnTo>
                    <a:pt x="0" y="0"/>
                  </a:lnTo>
                  <a:lnTo>
                    <a:pt x="8591550" y="0"/>
                  </a:lnTo>
                  <a:lnTo>
                    <a:pt x="8591550" y="85725"/>
                  </a:lnTo>
                </a:path>
              </a:pathLst>
            </a:custGeom>
            <a:noFill/>
            <a:ln w="20955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nim3_delegate_arrow">
              <a:extLst>
                <a:ext uri="{FF2B5EF4-FFF2-40B4-BE49-F238E27FC236}">
                  <a16:creationId xmlns:a16="http://schemas.microsoft.com/office/drawing/2014/main" id="{CC0782FC-F45F-4933-9FC6-70CA8A900CBE}"/>
                </a:ext>
              </a:extLst>
            </p:cNvPr>
            <p:cNvSpPr>
              <a:spLocks noGrp="1"/>
            </p:cNvSpPr>
            <p:nvPr/>
          </p:nvSpPr>
          <p:spPr>
            <a:xfrm>
              <a:off x="10258425" y="178117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85725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0D3020"/>
            </a:solidFill>
            <a:ln w="0">
              <a:solidFill>
                <a:srgbClr val="FF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anim3_a2a_label">
              <a:extLst>
                <a:ext uri="{FF2B5EF4-FFF2-40B4-BE49-F238E27FC236}">
                  <a16:creationId xmlns:a16="http://schemas.microsoft.com/office/drawing/2014/main" id="{9477A23B-FA65-4327-B4EC-85C49AAEED45}"/>
                </a:ext>
              </a:extLst>
            </p:cNvPr>
            <p:cNvSpPr>
              <a:spLocks noGrp="1"/>
            </p:cNvSpPr>
            <p:nvPr/>
          </p:nvSpPr>
          <p:spPr>
            <a:xfrm>
              <a:off x="7239000" y="1466850"/>
              <a:ext cx="3048000" cy="2667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75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75" b="1" dirty="0">
                  <a:solidFill>
                    <a:srgbClr val="FF0000"/>
                  </a:solidFill>
                  <a:latin typeface="Noto Sans"/>
                  <a:ea typeface="Noto Sans"/>
                  <a:cs typeface="Noto Sans"/>
                </a:rPr>
                <a:t>A2A: delegate and track</a:t>
              </a:r>
            </a:p>
          </p:txBody>
        </p:sp>
        <p:sp>
          <p:nvSpPr>
            <p:cNvPr id="21" name="anim3_service">
              <a:extLst>
                <a:ext uri="{FF2B5EF4-FFF2-40B4-BE49-F238E27FC236}">
                  <a16:creationId xmlns:a16="http://schemas.microsoft.com/office/drawing/2014/main" id="{2383E954-80E9-4D6D-9F91-8A23AD944998}"/>
                </a:ext>
              </a:extLst>
            </p:cNvPr>
            <p:cNvSpPr>
              <a:spLocks noGrp="1"/>
            </p:cNvSpPr>
            <p:nvPr/>
          </p:nvSpPr>
          <p:spPr>
            <a:xfrm>
              <a:off x="7048500" y="2457450"/>
              <a:ext cx="3257550" cy="3590925"/>
            </a:xfrm>
            <a:custGeom>
              <a:avLst/>
              <a:gdLst/>
              <a:ahLst/>
              <a:cxnLst/>
              <a:rect l="0" t="0" r="0" b="0"/>
              <a:pathLst>
                <a:path w="3257550" h="3590925">
                  <a:moveTo>
                    <a:pt x="3257550" y="0"/>
                  </a:moveTo>
                  <a:lnTo>
                    <a:pt x="3257550" y="3590925"/>
                  </a:lnTo>
                  <a:lnTo>
                    <a:pt x="0" y="3590925"/>
                  </a:lnTo>
                </a:path>
              </a:pathLst>
            </a:custGeom>
            <a:noFill/>
            <a:ln w="20955">
              <a:solidFill>
                <a:srgbClr val="FF000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8860143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4" grpId="0"/>
      <p:bldP spid="2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How MCP and A2A support the laboratory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775A178-FAF4-4EDB-A797-7F16517B8B31}"/>
              </a:ext>
            </a:extLst>
          </p:cNvPr>
          <p:cNvGraphicFramePr/>
          <p:nvPr/>
        </p:nvGraphicFramePr>
        <p:xfrm>
          <a:off x="619125" y="2143125"/>
          <a:ext cx="10953750" cy="3728085"/>
        </p:xfrm>
        <a:graphic>
          <a:graphicData uri="http://schemas.openxmlformats.org/drawingml/2006/table">
            <a:tbl>
              <a:tblPr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0487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Laboratory concern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MCP contribution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A2A contribution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Find suitable equipment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Tools and resources expose catalogues, capabilities and availability.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 facility agent finds and proposes suitable equipment.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Understand processes and policies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Resources, tool descriptions and policy queries provide relevant information.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 facility agent explains or manages procedures and checks requirements.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0487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Respond to change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Notifications or queries expose changes; application logic assesses their impact.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Task updates communicate effects on delegated work; agents coordinate a response.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7190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lang="en-IE" dirty="0"/>
              <a:t>How Open is this?</a:t>
            </a:r>
            <a:endParaRPr sz="4226" b="1" dirty="0">
              <a:solidFill>
                <a:schemeClr val="accent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EB1E650-E8F5-441B-B1C8-91E15C4B1CF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78590881"/>
              </p:ext>
            </p:extLst>
          </p:nvPr>
        </p:nvGraphicFramePr>
        <p:xfrm>
          <a:off x="619125" y="2238375"/>
          <a:ext cx="10953750" cy="3439478"/>
        </p:xfrm>
        <a:graphic>
          <a:graphicData uri="http://schemas.openxmlformats.org/drawingml/2006/table">
            <a:tbl>
              <a:tblPr/>
              <a:tblGrid>
                <a:gridCol w="5476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76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2100" b="1" dirty="0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MCP and A2A offer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E" sz="2100" b="1" dirty="0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Openness requires</a:t>
                      </a:r>
                      <a:endParaRPr sz="2100" b="1" dirty="0">
                        <a:solidFill>
                          <a:srgbClr val="005A9C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100" dirty="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Descriptions of known tools and agents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100" dirty="0">
                          <a:solidFill>
                            <a:srgbClr val="0D3020"/>
                          </a:solidFill>
                          <a:latin typeface="+mn-lt"/>
                          <a:ea typeface="Noto Sans"/>
                          <a:cs typeface="Noto Sans"/>
                        </a:rPr>
                        <a:t>Finding and assessing capabilities across unfamiliar environments</a:t>
                      </a:r>
                      <a:endParaRPr sz="2100" dirty="0">
                        <a:solidFill>
                          <a:srgbClr val="0D3020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100" dirty="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Tool use and task delegation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E" sz="2100" dirty="0">
                          <a:solidFill>
                            <a:srgbClr val="0D3020"/>
                          </a:solidFill>
                          <a:latin typeface="+mn-lt"/>
                          <a:ea typeface="Noto Sans"/>
                          <a:cs typeface="Noto Sans"/>
                        </a:rPr>
                        <a:t>Understanding how to act within local processes, policies and commitments</a:t>
                      </a: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lang="en-IE" sz="2100" dirty="0">
                          <a:solidFill>
                            <a:srgbClr val="0D3020"/>
                          </a:solidFill>
                          <a:latin typeface="+mn-lt"/>
                          <a:ea typeface="Noto Sans"/>
                          <a:cs typeface="Noto Sans"/>
                        </a:rPr>
                        <a:t>Environmental context and task updates</a:t>
                      </a:r>
                      <a:endParaRPr sz="2100" dirty="0">
                        <a:solidFill>
                          <a:srgbClr val="0D3020"/>
                        </a:solidFill>
                        <a:latin typeface="Noto Sans"/>
                        <a:ea typeface="Noto Sans"/>
                        <a:cs typeface="Noto Sans"/>
                      </a:endParaRP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100" dirty="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Relating changes to ongoing work and deciding how to adapt</a:t>
                      </a: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boundary_takeaway">
            <a:extLst>
              <a:ext uri="{FF2B5EF4-FFF2-40B4-BE49-F238E27FC236}">
                <a16:creationId xmlns:a16="http://schemas.microsoft.com/office/drawing/2014/main" id="{6F4FBE5D-528C-4F17-A870-6D41E8E16791}"/>
              </a:ext>
            </a:extLst>
          </p:cNvPr>
          <p:cNvSpPr>
            <a:spLocks noGrp="1"/>
          </p:cNvSpPr>
          <p:nvPr/>
        </p:nvSpPr>
        <p:spPr>
          <a:xfrm>
            <a:off x="619125" y="5953125"/>
            <a:ext cx="10953750" cy="762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75" b="1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MCP and A2A support interaction.</a:t>
            </a:r>
          </a:p>
          <a:p>
            <a:pPr algn="l">
              <a:defRPr sz="21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75" b="1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Effective action depends on context about the environment.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9226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8A9F9-F669-E13A-B5E4-D932E897C1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1D715683-521B-5BC2-7413-DCFC3A258D1F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Describing interaction with WoT</a:t>
            </a:r>
          </a:p>
        </p:txBody>
      </p:sp>
      <p:sp>
        <p:nvSpPr>
          <p:cNvPr id="4" name="td_intro">
            <a:extLst>
              <a:ext uri="{FF2B5EF4-FFF2-40B4-BE49-F238E27FC236}">
                <a16:creationId xmlns:a16="http://schemas.microsoft.com/office/drawing/2014/main" id="{E0125408-E690-A1E3-7A19-46E5D8BD35E0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1095375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25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Descriptions connect capabilities to concrete interactions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08B5AF-5F41-ADBB-A4C9-7BDC6E3443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27575" y="2619375"/>
            <a:ext cx="602350" cy="3381375"/>
          </a:xfrm>
          <a:prstGeom prst="rect">
            <a:avLst/>
          </a:prstGeom>
        </p:spPr>
      </p:pic>
      <p:sp>
        <p:nvSpPr>
          <p:cNvPr id="6" name="lamp_column">
            <a:extLst>
              <a:ext uri="{FF2B5EF4-FFF2-40B4-BE49-F238E27FC236}">
                <a16:creationId xmlns:a16="http://schemas.microsoft.com/office/drawing/2014/main" id="{64A68E37-3865-BBB2-7A1C-3A75ED80E2C9}"/>
              </a:ext>
            </a:extLst>
          </p:cNvPr>
          <p:cNvSpPr>
            <a:spLocks noGrp="1"/>
          </p:cNvSpPr>
          <p:nvPr/>
        </p:nvSpPr>
        <p:spPr>
          <a:xfrm>
            <a:off x="4333875" y="2571750"/>
            <a:ext cx="24765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The lamp</a:t>
            </a:r>
          </a:p>
        </p:txBody>
      </p:sp>
      <p:sp>
        <p:nvSpPr>
          <p:cNvPr id="7" name="lab_column">
            <a:extLst>
              <a:ext uri="{FF2B5EF4-FFF2-40B4-BE49-F238E27FC236}">
                <a16:creationId xmlns:a16="http://schemas.microsoft.com/office/drawing/2014/main" id="{79A0EEC2-69A2-A57E-3C06-D3B1D87F6C1A}"/>
              </a:ext>
            </a:extLst>
          </p:cNvPr>
          <p:cNvSpPr>
            <a:spLocks noGrp="1"/>
          </p:cNvSpPr>
          <p:nvPr/>
        </p:nvSpPr>
        <p:spPr>
          <a:xfrm>
            <a:off x="7810500" y="2571750"/>
            <a:ext cx="342900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The instrument</a:t>
            </a:r>
          </a:p>
        </p:txBody>
      </p:sp>
      <p:sp>
        <p:nvSpPr>
          <p:cNvPr id="8" name="kind_0">
            <a:extLst>
              <a:ext uri="{FF2B5EF4-FFF2-40B4-BE49-F238E27FC236}">
                <a16:creationId xmlns:a16="http://schemas.microsoft.com/office/drawing/2014/main" id="{3390251B-D521-2BC4-8B46-9EF327E931DB}"/>
              </a:ext>
            </a:extLst>
          </p:cNvPr>
          <p:cNvSpPr>
            <a:spLocks noGrp="1"/>
          </p:cNvSpPr>
          <p:nvPr/>
        </p:nvSpPr>
        <p:spPr>
          <a:xfrm>
            <a:off x="2333625" y="3333750"/>
            <a:ext cx="190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Property</a:t>
            </a:r>
          </a:p>
        </p:txBody>
      </p:sp>
      <p:sp>
        <p:nvSpPr>
          <p:cNvPr id="9" name="lamp_0">
            <a:extLst>
              <a:ext uri="{FF2B5EF4-FFF2-40B4-BE49-F238E27FC236}">
                <a16:creationId xmlns:a16="http://schemas.microsoft.com/office/drawing/2014/main" id="{D8745955-7CF3-4BC2-FC15-3F3AD9E94B16}"/>
              </a:ext>
            </a:extLst>
          </p:cNvPr>
          <p:cNvSpPr>
            <a:spLocks noGrp="1"/>
          </p:cNvSpPr>
          <p:nvPr/>
        </p:nvSpPr>
        <p:spPr>
          <a:xfrm>
            <a:off x="4333875" y="333375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On / off</a:t>
            </a:r>
          </a:p>
        </p:txBody>
      </p:sp>
      <p:sp>
        <p:nvSpPr>
          <p:cNvPr id="10" name="lab_0">
            <a:extLst>
              <a:ext uri="{FF2B5EF4-FFF2-40B4-BE49-F238E27FC236}">
                <a16:creationId xmlns:a16="http://schemas.microsoft.com/office/drawing/2014/main" id="{F9256B45-F96D-512C-0055-35AE31B83286}"/>
              </a:ext>
            </a:extLst>
          </p:cNvPr>
          <p:cNvSpPr>
            <a:spLocks noGrp="1"/>
          </p:cNvSpPr>
          <p:nvPr/>
        </p:nvSpPr>
        <p:spPr>
          <a:xfrm>
            <a:off x="7810500" y="3333750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Availability</a:t>
            </a:r>
          </a:p>
        </p:txBody>
      </p:sp>
      <p:sp>
        <p:nvSpPr>
          <p:cNvPr id="11" name="kind_1">
            <a:extLst>
              <a:ext uri="{FF2B5EF4-FFF2-40B4-BE49-F238E27FC236}">
                <a16:creationId xmlns:a16="http://schemas.microsoft.com/office/drawing/2014/main" id="{0E85D5EF-65B4-2379-CF04-98903A124571}"/>
              </a:ext>
            </a:extLst>
          </p:cNvPr>
          <p:cNvSpPr>
            <a:spLocks noGrp="1"/>
          </p:cNvSpPr>
          <p:nvPr/>
        </p:nvSpPr>
        <p:spPr>
          <a:xfrm>
            <a:off x="2333625" y="4152900"/>
            <a:ext cx="190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Action</a:t>
            </a:r>
          </a:p>
        </p:txBody>
      </p:sp>
      <p:sp>
        <p:nvSpPr>
          <p:cNvPr id="12" name="lamp_1">
            <a:extLst>
              <a:ext uri="{FF2B5EF4-FFF2-40B4-BE49-F238E27FC236}">
                <a16:creationId xmlns:a16="http://schemas.microsoft.com/office/drawing/2014/main" id="{84C802E0-02B6-A1F1-4FD4-B146EF59978B}"/>
              </a:ext>
            </a:extLst>
          </p:cNvPr>
          <p:cNvSpPr>
            <a:spLocks noGrp="1"/>
          </p:cNvSpPr>
          <p:nvPr/>
        </p:nvSpPr>
        <p:spPr>
          <a:xfrm>
            <a:off x="4333875" y="415290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Toggle</a:t>
            </a:r>
          </a:p>
        </p:txBody>
      </p:sp>
      <p:sp>
        <p:nvSpPr>
          <p:cNvPr id="13" name="lab_1">
            <a:extLst>
              <a:ext uri="{FF2B5EF4-FFF2-40B4-BE49-F238E27FC236}">
                <a16:creationId xmlns:a16="http://schemas.microsoft.com/office/drawing/2014/main" id="{480C4DCB-8903-EBB5-9FC5-8695D6E1563D}"/>
              </a:ext>
            </a:extLst>
          </p:cNvPr>
          <p:cNvSpPr>
            <a:spLocks noGrp="1"/>
          </p:cNvSpPr>
          <p:nvPr/>
        </p:nvSpPr>
        <p:spPr>
          <a:xfrm>
            <a:off x="7810500" y="4152900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Start analysis</a:t>
            </a:r>
          </a:p>
        </p:txBody>
      </p:sp>
      <p:sp>
        <p:nvSpPr>
          <p:cNvPr id="14" name="kind_2">
            <a:extLst>
              <a:ext uri="{FF2B5EF4-FFF2-40B4-BE49-F238E27FC236}">
                <a16:creationId xmlns:a16="http://schemas.microsoft.com/office/drawing/2014/main" id="{DF4D18C8-B0C5-3F2F-FCEF-BBF20EA09CC0}"/>
              </a:ext>
            </a:extLst>
          </p:cNvPr>
          <p:cNvSpPr>
            <a:spLocks noGrp="1"/>
          </p:cNvSpPr>
          <p:nvPr/>
        </p:nvSpPr>
        <p:spPr>
          <a:xfrm>
            <a:off x="2333625" y="4972050"/>
            <a:ext cx="190500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Event</a:t>
            </a:r>
          </a:p>
        </p:txBody>
      </p:sp>
      <p:sp>
        <p:nvSpPr>
          <p:cNvPr id="15" name="lamp_2">
            <a:extLst>
              <a:ext uri="{FF2B5EF4-FFF2-40B4-BE49-F238E27FC236}">
                <a16:creationId xmlns:a16="http://schemas.microsoft.com/office/drawing/2014/main" id="{399A3085-EBC1-C3B4-79F0-4B2A28EA45AD}"/>
              </a:ext>
            </a:extLst>
          </p:cNvPr>
          <p:cNvSpPr>
            <a:spLocks noGrp="1"/>
          </p:cNvSpPr>
          <p:nvPr/>
        </p:nvSpPr>
        <p:spPr>
          <a:xfrm>
            <a:off x="4333875" y="4972050"/>
            <a:ext cx="285750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Lamp failure</a:t>
            </a:r>
          </a:p>
        </p:txBody>
      </p:sp>
      <p:sp>
        <p:nvSpPr>
          <p:cNvPr id="16" name="lab_2">
            <a:extLst>
              <a:ext uri="{FF2B5EF4-FFF2-40B4-BE49-F238E27FC236}">
                <a16:creationId xmlns:a16="http://schemas.microsoft.com/office/drawing/2014/main" id="{6C82A9BA-F65C-A1B3-34F6-8C7924EED991}"/>
              </a:ext>
            </a:extLst>
          </p:cNvPr>
          <p:cNvSpPr>
            <a:spLocks noGrp="1"/>
          </p:cNvSpPr>
          <p:nvPr/>
        </p:nvSpPr>
        <p:spPr>
          <a:xfrm>
            <a:off x="7810500" y="4972050"/>
            <a:ext cx="35242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75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Analysis completed</a:t>
            </a:r>
          </a:p>
        </p:txBody>
      </p:sp>
      <p:sp>
        <p:nvSpPr>
          <p:cNvPr id="17" name="td_detail">
            <a:extLst>
              <a:ext uri="{FF2B5EF4-FFF2-40B4-BE49-F238E27FC236}">
                <a16:creationId xmlns:a16="http://schemas.microsoft.com/office/drawing/2014/main" id="{8A43D2B0-E1BE-4E1F-EEC9-997833F0584D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95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WoT Discovery finds descriptions. Forms describe access to properties, actions and events.</a:t>
            </a:r>
          </a:p>
        </p:txBody>
      </p:sp>
      <p:sp>
        <p:nvSpPr>
          <p:cNvPr id="18" name="Slide number">
            <a:extLst>
              <a:ext uri="{FF2B5EF4-FFF2-40B4-BE49-F238E27FC236}">
                <a16:creationId xmlns:a16="http://schemas.microsoft.com/office/drawing/2014/main" id="{CCC7E7D3-5209-9CBF-978A-409A3DDE8326}"/>
              </a:ext>
            </a:extLst>
          </p:cNvPr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5452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Resources combine state and controls</a:t>
            </a:r>
          </a:p>
        </p:txBody>
      </p:sp>
      <p:sp>
        <p:nvSpPr>
          <p:cNvPr id="4" name="reservation">
            <a:extLst>
              <a:ext uri="{FF2B5EF4-FFF2-40B4-BE49-F238E27FC236}">
                <a16:creationId xmlns:a16="http://schemas.microsoft.com/office/drawing/2014/main" id="{62FBFF92-BFF9-459D-B328-DF45E69DC141}"/>
              </a:ext>
            </a:extLst>
          </p:cNvPr>
          <p:cNvSpPr>
            <a:spLocks noGrp="1"/>
          </p:cNvSpPr>
          <p:nvPr/>
        </p:nvSpPr>
        <p:spPr>
          <a:xfrm>
            <a:off x="4000500" y="1952625"/>
            <a:ext cx="4286250" cy="857250"/>
          </a:xfrm>
          <a:prstGeom prst="roundRect">
            <a:avLst>
              <a:gd name="adj" fmla="val 11111"/>
            </a:avLst>
          </a:prstGeom>
          <a:solidFill>
            <a:srgbClr val="FAFAFA"/>
          </a:solidFill>
          <a:ln w="19050">
            <a:solidFill>
              <a:srgbClr val="0D30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reservation_label">
            <a:extLst>
              <a:ext uri="{FF2B5EF4-FFF2-40B4-BE49-F238E27FC236}">
                <a16:creationId xmlns:a16="http://schemas.microsoft.com/office/drawing/2014/main" id="{86DA7593-D0D4-477A-B6F4-00CC5A4E9B64}"/>
              </a:ext>
            </a:extLst>
          </p:cNvPr>
          <p:cNvSpPr>
            <a:spLocks noGrp="1"/>
          </p:cNvSpPr>
          <p:nvPr/>
        </p:nvSpPr>
        <p:spPr>
          <a:xfrm>
            <a:off x="4114800" y="2047875"/>
            <a:ext cx="4057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Reservation</a:t>
            </a:r>
          </a:p>
        </p:txBody>
      </p:sp>
      <p:sp>
        <p:nvSpPr>
          <p:cNvPr id="6" name="reservation_sub">
            <a:extLst>
              <a:ext uri="{FF2B5EF4-FFF2-40B4-BE49-F238E27FC236}">
                <a16:creationId xmlns:a16="http://schemas.microsoft.com/office/drawing/2014/main" id="{AD308B54-F08D-40F5-94BC-005D5574731E}"/>
              </a:ext>
            </a:extLst>
          </p:cNvPr>
          <p:cNvSpPr>
            <a:spLocks noGrp="1"/>
          </p:cNvSpPr>
          <p:nvPr/>
        </p:nvSpPr>
        <p:spPr>
          <a:xfrm>
            <a:off x="4095750" y="2362200"/>
            <a:ext cx="4095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https://lab.example/reservations/42</a:t>
            </a:r>
          </a:p>
        </p:txBody>
      </p:sp>
      <p:sp>
        <p:nvSpPr>
          <p:cNvPr id="7" name="state">
            <a:extLst>
              <a:ext uri="{FF2B5EF4-FFF2-40B4-BE49-F238E27FC236}">
                <a16:creationId xmlns:a16="http://schemas.microsoft.com/office/drawing/2014/main" id="{6110F5BD-F26F-4968-9D7E-2075DC82828C}"/>
              </a:ext>
            </a:extLst>
          </p:cNvPr>
          <p:cNvSpPr>
            <a:spLocks noGrp="1"/>
          </p:cNvSpPr>
          <p:nvPr/>
        </p:nvSpPr>
        <p:spPr>
          <a:xfrm>
            <a:off x="762000" y="3381375"/>
            <a:ext cx="2857500" cy="1333500"/>
          </a:xfrm>
          <a:prstGeom prst="roundRect">
            <a:avLst>
              <a:gd name="adj" fmla="val 7143"/>
            </a:avLst>
          </a:prstGeom>
          <a:solidFill>
            <a:srgbClr val="FAFAFA"/>
          </a:solidFill>
          <a:ln w="19050">
            <a:solidFill>
              <a:srgbClr val="0D30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" name="state_label">
            <a:extLst>
              <a:ext uri="{FF2B5EF4-FFF2-40B4-BE49-F238E27FC236}">
                <a16:creationId xmlns:a16="http://schemas.microsoft.com/office/drawing/2014/main" id="{0DB942B8-1E6F-4278-8035-20465D95EE31}"/>
              </a:ext>
            </a:extLst>
          </p:cNvPr>
          <p:cNvSpPr>
            <a:spLocks noGrp="1"/>
          </p:cNvSpPr>
          <p:nvPr/>
        </p:nvSpPr>
        <p:spPr>
          <a:xfrm>
            <a:off x="876300" y="3476625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Current state</a:t>
            </a:r>
          </a:p>
        </p:txBody>
      </p:sp>
      <p:sp>
        <p:nvSpPr>
          <p:cNvPr id="9" name="state_sub">
            <a:extLst>
              <a:ext uri="{FF2B5EF4-FFF2-40B4-BE49-F238E27FC236}">
                <a16:creationId xmlns:a16="http://schemas.microsoft.com/office/drawing/2014/main" id="{3FEE1908-AF2C-4F1A-AB56-9DFFB7257562}"/>
              </a:ext>
            </a:extLst>
          </p:cNvPr>
          <p:cNvSpPr>
            <a:spLocks noGrp="1"/>
          </p:cNvSpPr>
          <p:nvPr/>
        </p:nvSpPr>
        <p:spPr>
          <a:xfrm>
            <a:off x="857250" y="3790950"/>
            <a:ext cx="2667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Confirmed</a:t>
            </a:r>
          </a:p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Instrument A · 10:00–11:00</a:t>
            </a:r>
          </a:p>
        </p:txBody>
      </p:sp>
      <p:sp>
        <p:nvSpPr>
          <p:cNvPr id="10" name="controls">
            <a:extLst>
              <a:ext uri="{FF2B5EF4-FFF2-40B4-BE49-F238E27FC236}">
                <a16:creationId xmlns:a16="http://schemas.microsoft.com/office/drawing/2014/main" id="{943597A9-8486-4616-8D0D-E84A748A668E}"/>
              </a:ext>
            </a:extLst>
          </p:cNvPr>
          <p:cNvSpPr>
            <a:spLocks noGrp="1"/>
          </p:cNvSpPr>
          <p:nvPr/>
        </p:nvSpPr>
        <p:spPr>
          <a:xfrm>
            <a:off x="4667250" y="3381375"/>
            <a:ext cx="2857500" cy="1333500"/>
          </a:xfrm>
          <a:prstGeom prst="roundRect">
            <a:avLst>
              <a:gd name="adj" fmla="val 7143"/>
            </a:avLst>
          </a:prstGeom>
          <a:solidFill>
            <a:srgbClr val="FAFAFA"/>
          </a:solidFill>
          <a:ln w="19050">
            <a:solidFill>
              <a:srgbClr val="005A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controls_label">
            <a:extLst>
              <a:ext uri="{FF2B5EF4-FFF2-40B4-BE49-F238E27FC236}">
                <a16:creationId xmlns:a16="http://schemas.microsoft.com/office/drawing/2014/main" id="{B8BAFC3E-1F7D-4D0C-993C-B2EEB858B27F}"/>
              </a:ext>
            </a:extLst>
          </p:cNvPr>
          <p:cNvSpPr>
            <a:spLocks noGrp="1"/>
          </p:cNvSpPr>
          <p:nvPr/>
        </p:nvSpPr>
        <p:spPr>
          <a:xfrm>
            <a:off x="4781550" y="3476625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Interaction controls</a:t>
            </a:r>
          </a:p>
        </p:txBody>
      </p:sp>
      <p:sp>
        <p:nvSpPr>
          <p:cNvPr id="12" name="controls_sub">
            <a:extLst>
              <a:ext uri="{FF2B5EF4-FFF2-40B4-BE49-F238E27FC236}">
                <a16:creationId xmlns:a16="http://schemas.microsoft.com/office/drawing/2014/main" id="{6CF5F5C0-680A-4C7E-A5CE-1B0AC42089B5}"/>
              </a:ext>
            </a:extLst>
          </p:cNvPr>
          <p:cNvSpPr>
            <a:spLocks noGrp="1"/>
          </p:cNvSpPr>
          <p:nvPr/>
        </p:nvSpPr>
        <p:spPr>
          <a:xfrm>
            <a:off x="4762500" y="3790950"/>
            <a:ext cx="2667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Cancel</a:t>
            </a:r>
          </a:p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Observe status</a:t>
            </a:r>
          </a:p>
        </p:txBody>
      </p:sp>
      <p:sp>
        <p:nvSpPr>
          <p:cNvPr id="13" name="relations">
            <a:extLst>
              <a:ext uri="{FF2B5EF4-FFF2-40B4-BE49-F238E27FC236}">
                <a16:creationId xmlns:a16="http://schemas.microsoft.com/office/drawing/2014/main" id="{DCCD2194-A0C2-4EBE-9423-7BEEE4EA77C3}"/>
              </a:ext>
            </a:extLst>
          </p:cNvPr>
          <p:cNvSpPr>
            <a:spLocks noGrp="1"/>
          </p:cNvSpPr>
          <p:nvPr/>
        </p:nvSpPr>
        <p:spPr>
          <a:xfrm>
            <a:off x="8572500" y="3381375"/>
            <a:ext cx="2857500" cy="1333500"/>
          </a:xfrm>
          <a:prstGeom prst="roundRect">
            <a:avLst>
              <a:gd name="adj" fmla="val 7143"/>
            </a:avLst>
          </a:prstGeom>
          <a:solidFill>
            <a:srgbClr val="FAFAFA"/>
          </a:solidFill>
          <a:ln w="19050">
            <a:solidFill>
              <a:srgbClr val="0D30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relations_label">
            <a:extLst>
              <a:ext uri="{FF2B5EF4-FFF2-40B4-BE49-F238E27FC236}">
                <a16:creationId xmlns:a16="http://schemas.microsoft.com/office/drawing/2014/main" id="{1DDE17FA-7540-4571-8DC9-5C95DD7B3A61}"/>
              </a:ext>
            </a:extLst>
          </p:cNvPr>
          <p:cNvSpPr>
            <a:spLocks noGrp="1"/>
          </p:cNvSpPr>
          <p:nvPr/>
        </p:nvSpPr>
        <p:spPr>
          <a:xfrm>
            <a:off x="8686800" y="3476625"/>
            <a:ext cx="26289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Relationships</a:t>
            </a:r>
          </a:p>
        </p:txBody>
      </p:sp>
      <p:sp>
        <p:nvSpPr>
          <p:cNvPr id="15" name="relations_sub">
            <a:extLst>
              <a:ext uri="{FF2B5EF4-FFF2-40B4-BE49-F238E27FC236}">
                <a16:creationId xmlns:a16="http://schemas.microsoft.com/office/drawing/2014/main" id="{730D56CC-3284-46B6-A417-6C48DE4E6DB4}"/>
              </a:ext>
            </a:extLst>
          </p:cNvPr>
          <p:cNvSpPr>
            <a:spLocks noGrp="1"/>
          </p:cNvSpPr>
          <p:nvPr/>
        </p:nvSpPr>
        <p:spPr>
          <a:xfrm>
            <a:off x="8667750" y="3790950"/>
            <a:ext cx="2667000" cy="904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Instrument</a:t>
            </a:r>
          </a:p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Requester · access policy</a:t>
            </a:r>
          </a:p>
        </p:txBody>
      </p:sp>
      <p:sp>
        <p:nvSpPr>
          <p:cNvPr id="16" name="state_link">
            <a:extLst>
              <a:ext uri="{FF2B5EF4-FFF2-40B4-BE49-F238E27FC236}">
                <a16:creationId xmlns:a16="http://schemas.microsoft.com/office/drawing/2014/main" id="{392B9DBC-A208-4670-9A82-489AB38AB229}"/>
              </a:ext>
            </a:extLst>
          </p:cNvPr>
          <p:cNvSpPr>
            <a:spLocks noGrp="1"/>
          </p:cNvSpPr>
          <p:nvPr/>
        </p:nvSpPr>
        <p:spPr>
          <a:xfrm>
            <a:off x="2190750" y="2809875"/>
            <a:ext cx="2762250" cy="571500"/>
          </a:xfrm>
          <a:custGeom>
            <a:avLst/>
            <a:gdLst/>
            <a:ahLst/>
            <a:cxnLst/>
            <a:rect l="0" t="0" r="0" b="0"/>
            <a:pathLst>
              <a:path w="2762250" h="571500">
                <a:moveTo>
                  <a:pt x="2762250" y="0"/>
                </a:moveTo>
                <a:lnTo>
                  <a:pt x="2762250" y="285750"/>
                </a:lnTo>
                <a:lnTo>
                  <a:pt x="0" y="285750"/>
                </a:lnTo>
                <a:lnTo>
                  <a:pt x="0" y="571500"/>
                </a:lnTo>
              </a:path>
            </a:pathLst>
          </a:custGeom>
          <a:noFill/>
          <a:ln w="20955">
            <a:solidFill>
              <a:srgbClr val="0D3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controls_link">
            <a:extLst>
              <a:ext uri="{FF2B5EF4-FFF2-40B4-BE49-F238E27FC236}">
                <a16:creationId xmlns:a16="http://schemas.microsoft.com/office/drawing/2014/main" id="{931F2CEB-1F0F-4D59-903F-B25E8AACDD5D}"/>
              </a:ext>
            </a:extLst>
          </p:cNvPr>
          <p:cNvSpPr>
            <a:spLocks noGrp="1"/>
          </p:cNvSpPr>
          <p:nvPr/>
        </p:nvSpPr>
        <p:spPr>
          <a:xfrm>
            <a:off x="6143625" y="2809875"/>
            <a:ext cx="9525" cy="571500"/>
          </a:xfrm>
          <a:custGeom>
            <a:avLst/>
            <a:gdLst/>
            <a:ahLst/>
            <a:cxnLst/>
            <a:rect l="0" t="0" r="0" b="0"/>
            <a:pathLst>
              <a:path w="9525" h="571500">
                <a:moveTo>
                  <a:pt x="0" y="0"/>
                </a:moveTo>
                <a:lnTo>
                  <a:pt x="0" y="571500"/>
                </a:lnTo>
              </a:path>
            </a:pathLst>
          </a:custGeom>
          <a:noFill/>
          <a:ln w="20955">
            <a:solidFill>
              <a:srgbClr val="00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relations_link">
            <a:extLst>
              <a:ext uri="{FF2B5EF4-FFF2-40B4-BE49-F238E27FC236}">
                <a16:creationId xmlns:a16="http://schemas.microsoft.com/office/drawing/2014/main" id="{2D345A8B-126C-4C81-99BF-4CA3328E4BE0}"/>
              </a:ext>
            </a:extLst>
          </p:cNvPr>
          <p:cNvSpPr>
            <a:spLocks noGrp="1"/>
          </p:cNvSpPr>
          <p:nvPr/>
        </p:nvSpPr>
        <p:spPr>
          <a:xfrm>
            <a:off x="7239000" y="2809875"/>
            <a:ext cx="2762250" cy="571500"/>
          </a:xfrm>
          <a:custGeom>
            <a:avLst/>
            <a:gdLst/>
            <a:ahLst/>
            <a:cxnLst/>
            <a:rect l="0" t="0" r="0" b="0"/>
            <a:pathLst>
              <a:path w="2762250" h="571500">
                <a:moveTo>
                  <a:pt x="0" y="0"/>
                </a:moveTo>
                <a:lnTo>
                  <a:pt x="0" y="285750"/>
                </a:lnTo>
                <a:lnTo>
                  <a:pt x="2762250" y="285750"/>
                </a:lnTo>
                <a:lnTo>
                  <a:pt x="2762250" y="571500"/>
                </a:lnTo>
              </a:path>
            </a:pathLst>
          </a:custGeom>
          <a:noFill/>
          <a:ln w="20955">
            <a:solidFill>
              <a:srgbClr val="0D30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tereotype">
            <a:extLst>
              <a:ext uri="{FF2B5EF4-FFF2-40B4-BE49-F238E27FC236}">
                <a16:creationId xmlns:a16="http://schemas.microsoft.com/office/drawing/2014/main" id="{9B3C9006-7400-49F4-B45B-4FA18B50227C}"/>
              </a:ext>
            </a:extLst>
          </p:cNvPr>
          <p:cNvSpPr>
            <a:spLocks noGrp="1"/>
          </p:cNvSpPr>
          <p:nvPr/>
        </p:nvSpPr>
        <p:spPr>
          <a:xfrm>
            <a:off x="904875" y="5286375"/>
            <a:ext cx="10477500" cy="8667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A resource stereotype supplies shared expectations.</a:t>
            </a:r>
          </a:p>
          <a:p>
            <a:pPr algn="ctr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Its representation supplies current state and concrete controls.</a:t>
            </a:r>
          </a:p>
        </p:txBody>
      </p:sp>
      <p:sp>
        <p:nvSpPr>
          <p:cNvPr id="20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4712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The Web/hypermedia laboratory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4DE29F-925A-4285-9EC5-11B3F4C464D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5579" b="5579"/>
          <a:stretch>
            <a:fillRect/>
          </a:stretch>
        </p:blipFill>
        <p:spPr>
          <a:xfrm>
            <a:off x="1619250" y="2190750"/>
            <a:ext cx="8953500" cy="4476750"/>
          </a:xfrm>
          <a:prstGeom prst="rect">
            <a:avLst/>
          </a:prstGeom>
        </p:spPr>
      </p:pic>
      <p:sp>
        <p:nvSpPr>
          <p:cNvPr id="24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16</a:t>
            </a:fld>
            <a:endParaRPr lang="en-US"/>
          </a:p>
        </p:txBody>
      </p:sp>
      <p:grpSp>
        <p:nvGrpSpPr>
          <p:cNvPr id="25" name="Build 1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5" name="anim1_research">
              <a:extLst>
                <a:ext uri="{FF2B5EF4-FFF2-40B4-BE49-F238E27FC236}">
                  <a16:creationId xmlns:a16="http://schemas.microsoft.com/office/drawing/2014/main" id="{702168A4-89BA-459D-AF00-13E7B9F78974}"/>
                </a:ext>
              </a:extLst>
            </p:cNvPr>
            <p:cNvSpPr>
              <a:spLocks noGrp="1"/>
            </p:cNvSpPr>
            <p:nvPr/>
          </p:nvSpPr>
          <p:spPr>
            <a:xfrm>
              <a:off x="619125" y="1866900"/>
              <a:ext cx="2190750" cy="590550"/>
            </a:xfrm>
            <a:prstGeom prst="roundRect">
              <a:avLst>
                <a:gd name="adj" fmla="val 16129"/>
              </a:avLst>
            </a:prstGeom>
            <a:solidFill>
              <a:srgbClr val="FAFAFA"/>
            </a:solidFill>
            <a:ln w="19050">
              <a:solidFill>
                <a:srgbClr val="005A9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anim1_research_label">
              <a:extLst>
                <a:ext uri="{FF2B5EF4-FFF2-40B4-BE49-F238E27FC236}">
                  <a16:creationId xmlns:a16="http://schemas.microsoft.com/office/drawing/2014/main" id="{A3B68994-E299-476B-96E4-C69145A1DB72}"/>
                </a:ext>
              </a:extLst>
            </p:cNvPr>
            <p:cNvSpPr>
              <a:spLocks noGrp="1"/>
            </p:cNvSpPr>
            <p:nvPr/>
          </p:nvSpPr>
          <p:spPr>
            <a:xfrm>
              <a:off x="733425" y="1962150"/>
              <a:ext cx="19621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rPr>
                <a:t>Research agent</a:t>
              </a:r>
            </a:p>
          </p:txBody>
        </p:sp>
        <p:sp>
          <p:nvSpPr>
            <p:cNvPr id="7" name="anim1_facility">
              <a:extLst>
                <a:ext uri="{FF2B5EF4-FFF2-40B4-BE49-F238E27FC236}">
                  <a16:creationId xmlns:a16="http://schemas.microsoft.com/office/drawing/2014/main" id="{37FD8F2A-5B3D-4FDB-9D6C-250B04B7BFB6}"/>
                </a:ext>
              </a:extLst>
            </p:cNvPr>
            <p:cNvSpPr>
              <a:spLocks noGrp="1"/>
            </p:cNvSpPr>
            <p:nvPr/>
          </p:nvSpPr>
          <p:spPr>
            <a:xfrm>
              <a:off x="9144000" y="1866900"/>
              <a:ext cx="2333625" cy="590550"/>
            </a:xfrm>
            <a:prstGeom prst="roundRect">
              <a:avLst>
                <a:gd name="adj" fmla="val 16129"/>
              </a:avLst>
            </a:prstGeom>
            <a:solidFill>
              <a:srgbClr val="FAFAFA"/>
            </a:solidFill>
            <a:ln w="19050">
              <a:solidFill>
                <a:srgbClr val="0D302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anim1_facility_label">
              <a:extLst>
                <a:ext uri="{FF2B5EF4-FFF2-40B4-BE49-F238E27FC236}">
                  <a16:creationId xmlns:a16="http://schemas.microsoft.com/office/drawing/2014/main" id="{6C69FB95-4D51-41FA-9FEF-A7969437F9F4}"/>
                </a:ext>
              </a:extLst>
            </p:cNvPr>
            <p:cNvSpPr>
              <a:spLocks noGrp="1"/>
            </p:cNvSpPr>
            <p:nvPr/>
          </p:nvSpPr>
          <p:spPr>
            <a:xfrm>
              <a:off x="9258300" y="1962150"/>
              <a:ext cx="2105025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rPr>
                <a:t>Facility agent</a:t>
              </a:r>
            </a:p>
          </p:txBody>
        </p:sp>
        <p:sp>
          <p:nvSpPr>
            <p:cNvPr id="9" name="anim1_resource">
              <a:extLst>
                <a:ext uri="{FF2B5EF4-FFF2-40B4-BE49-F238E27FC236}">
                  <a16:creationId xmlns:a16="http://schemas.microsoft.com/office/drawing/2014/main" id="{2E5943E2-6C91-41D4-9494-2574C3B9BAD5}"/>
                </a:ext>
              </a:extLst>
            </p:cNvPr>
            <p:cNvSpPr>
              <a:spLocks noGrp="1"/>
            </p:cNvSpPr>
            <p:nvPr/>
          </p:nvSpPr>
          <p:spPr>
            <a:xfrm>
              <a:off x="4429125" y="1866900"/>
              <a:ext cx="3333750" cy="781050"/>
            </a:xfrm>
            <a:prstGeom prst="roundRect">
              <a:avLst>
                <a:gd name="adj" fmla="val 12195"/>
              </a:avLst>
            </a:prstGeom>
            <a:solidFill>
              <a:srgbClr val="FAFAFA"/>
            </a:solidFill>
            <a:ln w="19050">
              <a:solidFill>
                <a:srgbClr val="0D302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anim1_resource_label">
              <a:extLst>
                <a:ext uri="{FF2B5EF4-FFF2-40B4-BE49-F238E27FC236}">
                  <a16:creationId xmlns:a16="http://schemas.microsoft.com/office/drawing/2014/main" id="{3DE9FFFC-A1F2-47D4-B6A6-0AADE5AF43EB}"/>
                </a:ext>
              </a:extLst>
            </p:cNvPr>
            <p:cNvSpPr>
              <a:spLocks noGrp="1"/>
            </p:cNvSpPr>
            <p:nvPr/>
          </p:nvSpPr>
          <p:spPr>
            <a:xfrm>
              <a:off x="4543425" y="1962150"/>
              <a:ext cx="31051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rPr>
                <a:t>Linked lab resources</a:t>
              </a:r>
            </a:p>
          </p:txBody>
        </p:sp>
        <p:sp>
          <p:nvSpPr>
            <p:cNvPr id="11" name="anim1_resource_sub">
              <a:extLst>
                <a:ext uri="{FF2B5EF4-FFF2-40B4-BE49-F238E27FC236}">
                  <a16:creationId xmlns:a16="http://schemas.microsoft.com/office/drawing/2014/main" id="{BD16F3DB-21EB-472A-9550-B90A363D072F}"/>
                </a:ext>
              </a:extLst>
            </p:cNvPr>
            <p:cNvSpPr>
              <a:spLocks noGrp="1"/>
            </p:cNvSpPr>
            <p:nvPr/>
          </p:nvSpPr>
          <p:spPr>
            <a:xfrm>
              <a:off x="4524375" y="2276475"/>
              <a:ext cx="3143250" cy="3524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00" b="0">
                  <a:solidFill>
                    <a:srgbClr val="000000"/>
                  </a:solidFill>
                  <a:latin typeface="Noto Sans"/>
                  <a:ea typeface="Noto Sans"/>
                  <a:cs typeface="Noto Sans"/>
                </a:rPr>
                <a:t>Instrument · reservation · policy</a:t>
              </a:r>
            </a:p>
          </p:txBody>
        </p:sp>
        <p:sp>
          <p:nvSpPr>
            <p:cNvPr id="12" name="anim1_user">
              <a:extLst>
                <a:ext uri="{FF2B5EF4-FFF2-40B4-BE49-F238E27FC236}">
                  <a16:creationId xmlns:a16="http://schemas.microsoft.com/office/drawing/2014/main" id="{7477E9C5-3A65-4320-A178-6750384F7F5A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2457450"/>
              <a:ext cx="666750" cy="2209800"/>
            </a:xfrm>
            <a:custGeom>
              <a:avLst/>
              <a:gdLst/>
              <a:ahLst/>
              <a:cxnLst/>
              <a:rect l="0" t="0" r="0" b="0"/>
              <a:pathLst>
                <a:path w="666750" h="2209800">
                  <a:moveTo>
                    <a:pt x="0" y="0"/>
                  </a:moveTo>
                  <a:lnTo>
                    <a:pt x="0" y="2209800"/>
                  </a:lnTo>
                  <a:lnTo>
                    <a:pt x="666750" y="2209800"/>
                  </a:lnTo>
                </a:path>
              </a:pathLst>
            </a:custGeom>
            <a:noFill/>
            <a:ln w="20955">
              <a:solidFill>
                <a:srgbClr val="005A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anim1_equipment">
              <a:extLst>
                <a:ext uri="{FF2B5EF4-FFF2-40B4-BE49-F238E27FC236}">
                  <a16:creationId xmlns:a16="http://schemas.microsoft.com/office/drawing/2014/main" id="{89318D54-FCA8-4078-B9AF-714C46C4400D}"/>
                </a:ext>
              </a:extLst>
            </p:cNvPr>
            <p:cNvSpPr>
              <a:spLocks noGrp="1"/>
            </p:cNvSpPr>
            <p:nvPr/>
          </p:nvSpPr>
          <p:spPr>
            <a:xfrm>
              <a:off x="5286375" y="2647950"/>
              <a:ext cx="3476625" cy="1266825"/>
            </a:xfrm>
            <a:custGeom>
              <a:avLst/>
              <a:gdLst/>
              <a:ahLst/>
              <a:cxnLst/>
              <a:rect l="0" t="0" r="0" b="0"/>
              <a:pathLst>
                <a:path w="3476625" h="1266825">
                  <a:moveTo>
                    <a:pt x="0" y="0"/>
                  </a:moveTo>
                  <a:lnTo>
                    <a:pt x="0" y="304800"/>
                  </a:lnTo>
                  <a:lnTo>
                    <a:pt x="3476625" y="304800"/>
                  </a:lnTo>
                  <a:lnTo>
                    <a:pt x="3476625" y="1266825"/>
                  </a:lnTo>
                </a:path>
              </a:pathLst>
            </a:custGeom>
            <a:noFill/>
            <a:ln w="20955">
              <a:solidFill>
                <a:srgbClr val="0D3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anim1_booking">
              <a:extLst>
                <a:ext uri="{FF2B5EF4-FFF2-40B4-BE49-F238E27FC236}">
                  <a16:creationId xmlns:a16="http://schemas.microsoft.com/office/drawing/2014/main" id="{18756710-4D16-4583-BF1E-CF16CC7C89C9}"/>
                </a:ext>
              </a:extLst>
            </p:cNvPr>
            <p:cNvSpPr>
              <a:spLocks noGrp="1"/>
            </p:cNvSpPr>
            <p:nvPr/>
          </p:nvSpPr>
          <p:spPr>
            <a:xfrm>
              <a:off x="6096000" y="2647950"/>
              <a:ext cx="523875" cy="3400425"/>
            </a:xfrm>
            <a:custGeom>
              <a:avLst/>
              <a:gdLst/>
              <a:ahLst/>
              <a:cxnLst/>
              <a:rect l="0" t="0" r="0" b="0"/>
              <a:pathLst>
                <a:path w="523875" h="3400425">
                  <a:moveTo>
                    <a:pt x="0" y="0"/>
                  </a:moveTo>
                  <a:lnTo>
                    <a:pt x="0" y="2971800"/>
                  </a:lnTo>
                  <a:lnTo>
                    <a:pt x="523875" y="2971800"/>
                  </a:lnTo>
                  <a:lnTo>
                    <a:pt x="523875" y="3400425"/>
                  </a:lnTo>
                </a:path>
              </a:pathLst>
            </a:custGeom>
            <a:noFill/>
            <a:ln w="20955">
              <a:solidFill>
                <a:srgbClr val="0D3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Build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5" name="anim2_discovery">
              <a:extLst>
                <a:ext uri="{FF2B5EF4-FFF2-40B4-BE49-F238E27FC236}">
                  <a16:creationId xmlns:a16="http://schemas.microsoft.com/office/drawing/2014/main" id="{50D98B1F-702C-46F4-BDCC-A70388999CBF}"/>
                </a:ext>
              </a:extLst>
            </p:cNvPr>
            <p:cNvSpPr>
              <a:spLocks noGrp="1"/>
            </p:cNvSpPr>
            <p:nvPr/>
          </p:nvSpPr>
          <p:spPr>
            <a:xfrm>
              <a:off x="2809875" y="2162175"/>
              <a:ext cx="1524000" cy="9525"/>
            </a:xfrm>
            <a:custGeom>
              <a:avLst/>
              <a:gdLst/>
              <a:ahLst/>
              <a:cxnLst/>
              <a:rect l="0" t="0" r="0" b="0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20955">
              <a:solidFill>
                <a:srgbClr val="005A9C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anim2_discovery_arrow">
              <a:extLst>
                <a:ext uri="{FF2B5EF4-FFF2-40B4-BE49-F238E27FC236}">
                  <a16:creationId xmlns:a16="http://schemas.microsoft.com/office/drawing/2014/main" id="{A4EE257A-6FA1-427A-8841-F3CCF895C378}"/>
                </a:ext>
              </a:extLst>
            </p:cNvPr>
            <p:cNvSpPr>
              <a:spLocks noGrp="1"/>
            </p:cNvSpPr>
            <p:nvPr/>
          </p:nvSpPr>
          <p:spPr>
            <a:xfrm>
              <a:off x="4248150" y="211455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85725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005A9C"/>
            </a:solidFill>
            <a:ln w="0">
              <a:solidFill>
                <a:srgbClr val="005A9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anim2_discovery_label">
              <a:extLst>
                <a:ext uri="{FF2B5EF4-FFF2-40B4-BE49-F238E27FC236}">
                  <a16:creationId xmlns:a16="http://schemas.microsoft.com/office/drawing/2014/main" id="{D39B8DE7-D5AC-4B31-BCED-12B43C7D9898}"/>
                </a:ext>
              </a:extLst>
            </p:cNvPr>
            <p:cNvSpPr>
              <a:spLocks noGrp="1"/>
            </p:cNvSpPr>
            <p:nvPr/>
          </p:nvSpPr>
          <p:spPr>
            <a:xfrm>
              <a:off x="2952750" y="1809750"/>
              <a:ext cx="1524000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rPr>
                <a:t>Discover / act</a:t>
              </a:r>
            </a:p>
          </p:txBody>
        </p:sp>
      </p:grpSp>
      <p:grpSp>
        <p:nvGrpSpPr>
          <p:cNvPr id="27" name="Build 3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8" name="anim3_shared">
              <a:extLst>
                <a:ext uri="{FF2B5EF4-FFF2-40B4-BE49-F238E27FC236}">
                  <a16:creationId xmlns:a16="http://schemas.microsoft.com/office/drawing/2014/main" id="{F06F5148-3965-46C0-8A16-5D6B286C1AB1}"/>
                </a:ext>
              </a:extLst>
            </p:cNvPr>
            <p:cNvSpPr>
              <a:spLocks noGrp="1"/>
            </p:cNvSpPr>
            <p:nvPr/>
          </p:nvSpPr>
          <p:spPr>
            <a:xfrm>
              <a:off x="7858125" y="2162175"/>
              <a:ext cx="1285875" cy="9525"/>
            </a:xfrm>
            <a:custGeom>
              <a:avLst/>
              <a:gdLst/>
              <a:ahLst/>
              <a:cxnLst/>
              <a:rect l="0" t="0" r="0" b="0"/>
              <a:pathLst>
                <a:path w="1285875" h="9525">
                  <a:moveTo>
                    <a:pt x="1285875" y="0"/>
                  </a:move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0D3020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anim3_shared_arrow">
              <a:extLst>
                <a:ext uri="{FF2B5EF4-FFF2-40B4-BE49-F238E27FC236}">
                  <a16:creationId xmlns:a16="http://schemas.microsoft.com/office/drawing/2014/main" id="{2AFC28A5-7975-41F3-AF4C-B2D4804B28E2}"/>
                </a:ext>
              </a:extLst>
            </p:cNvPr>
            <p:cNvSpPr>
              <a:spLocks noGrp="1"/>
            </p:cNvSpPr>
            <p:nvPr/>
          </p:nvSpPr>
          <p:spPr>
            <a:xfrm>
              <a:off x="7858125" y="211455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0" y="47625"/>
                  </a:moveTo>
                  <a:lnTo>
                    <a:pt x="85725" y="0"/>
                  </a:lnTo>
                  <a:lnTo>
                    <a:pt x="85725" y="95250"/>
                  </a:lnTo>
                  <a:close/>
                </a:path>
              </a:pathLst>
            </a:custGeom>
            <a:solidFill>
              <a:srgbClr val="0D3020"/>
            </a:solidFill>
            <a:ln w="0">
              <a:solidFill>
                <a:srgbClr val="0D302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anim3_shared_label">
              <a:extLst>
                <a:ext uri="{FF2B5EF4-FFF2-40B4-BE49-F238E27FC236}">
                  <a16:creationId xmlns:a16="http://schemas.microsoft.com/office/drawing/2014/main" id="{33B08A40-484D-40E7-AD41-0DB3043AAF8D}"/>
                </a:ext>
              </a:extLst>
            </p:cNvPr>
            <p:cNvSpPr>
              <a:spLocks noGrp="1"/>
            </p:cNvSpPr>
            <p:nvPr/>
          </p:nvSpPr>
          <p:spPr>
            <a:xfrm>
              <a:off x="7858125" y="1809750"/>
              <a:ext cx="1381125" cy="2762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00" b="1">
                  <a:solidFill>
                    <a:srgbClr val="0D3020"/>
                  </a:solidFill>
                  <a:latin typeface="Noto Sans"/>
                  <a:ea typeface="Noto Sans"/>
                  <a:cs typeface="Noto Sans"/>
                </a:rPr>
                <a:t>Inspect / act</a:t>
              </a:r>
            </a:p>
          </p:txBody>
        </p:sp>
      </p:grpSp>
      <p:grpSp>
        <p:nvGrpSpPr>
          <p:cNvPr id="28" name="Build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1" name="anim4_updates">
              <a:extLst>
                <a:ext uri="{FF2B5EF4-FFF2-40B4-BE49-F238E27FC236}">
                  <a16:creationId xmlns:a16="http://schemas.microsoft.com/office/drawing/2014/main" id="{37974387-6A57-4397-968C-DB7C8C372CB8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2457450"/>
              <a:ext cx="2714625" cy="361950"/>
            </a:xfrm>
            <a:custGeom>
              <a:avLst/>
              <a:gdLst/>
              <a:ahLst/>
              <a:cxnLst/>
              <a:rect l="0" t="0" r="0" b="0"/>
              <a:pathLst>
                <a:path w="2714625" h="361950">
                  <a:moveTo>
                    <a:pt x="2714625" y="114300"/>
                  </a:moveTo>
                  <a:lnTo>
                    <a:pt x="1857375" y="114300"/>
                  </a:lnTo>
                  <a:lnTo>
                    <a:pt x="1857375" y="361950"/>
                  </a:lnTo>
                  <a:lnTo>
                    <a:pt x="0" y="361950"/>
                  </a:lnTo>
                  <a:lnTo>
                    <a:pt x="0" y="0"/>
                  </a:lnTo>
                </a:path>
              </a:pathLst>
            </a:custGeom>
            <a:noFill/>
            <a:ln w="20955">
              <a:solidFill>
                <a:srgbClr val="005A9C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anim4_updates_arrow">
              <a:extLst>
                <a:ext uri="{FF2B5EF4-FFF2-40B4-BE49-F238E27FC236}">
                  <a16:creationId xmlns:a16="http://schemas.microsoft.com/office/drawing/2014/main" id="{0D741BE7-66D3-416B-91AF-17AB9232D223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245745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lnTo>
                    <a:pt x="0" y="85725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005A9C"/>
            </a:solidFill>
            <a:ln w="0">
              <a:solidFill>
                <a:srgbClr val="005A9C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anim4_updates_label">
              <a:extLst>
                <a:ext uri="{FF2B5EF4-FFF2-40B4-BE49-F238E27FC236}">
                  <a16:creationId xmlns:a16="http://schemas.microsoft.com/office/drawing/2014/main" id="{0708E627-447B-477B-9FD2-65C712530576}"/>
                </a:ext>
              </a:extLst>
            </p:cNvPr>
            <p:cNvSpPr>
              <a:spLocks noGrp="1"/>
            </p:cNvSpPr>
            <p:nvPr/>
          </p:nvSpPr>
          <p:spPr>
            <a:xfrm>
              <a:off x="1809750" y="2847975"/>
              <a:ext cx="2381250" cy="25717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00" b="1">
                  <a:solidFill>
                    <a:srgbClr val="005A9C"/>
                  </a:solidFill>
                  <a:latin typeface="Noto Sans"/>
                  <a:ea typeface="Noto Sans"/>
                  <a:cs typeface="Noto Sans"/>
                </a:rPr>
                <a:t>Subscribed updates</a:t>
              </a:r>
            </a:p>
          </p:txBody>
        </p:sp>
      </p:grpSp>
      <p:grpSp>
        <p:nvGrpSpPr>
          <p:cNvPr id="29" name="anim5_agent_interaction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0" name="anim5_agent_link">
              <a:extLst>
                <a:ext uri="{FF2B5EF4-FFF2-40B4-BE49-F238E27FC236}">
                  <a16:creationId xmlns:a16="http://schemas.microsoft.com/office/drawing/2014/main" id="{2F5A0CBC-A8A5-44D7-98CE-8282B25AAB91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1676400"/>
              <a:ext cx="8591550" cy="190500"/>
            </a:xfrm>
            <a:custGeom>
              <a:avLst/>
              <a:gdLst/>
              <a:ahLst/>
              <a:cxnLst/>
              <a:rect l="0" t="0" r="0" b="0"/>
              <a:pathLst>
                <a:path w="8591550" h="190500">
                  <a:moveTo>
                    <a:pt x="0" y="190500"/>
                  </a:moveTo>
                  <a:lnTo>
                    <a:pt x="0" y="0"/>
                  </a:lnTo>
                  <a:lnTo>
                    <a:pt x="8591550" y="0"/>
                  </a:lnTo>
                  <a:lnTo>
                    <a:pt x="8591550" y="190500"/>
                  </a:lnTo>
                </a:path>
              </a:pathLst>
            </a:custGeom>
            <a:noFill/>
            <a:ln w="20955">
              <a:solidFill>
                <a:srgbClr val="E5341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anim5_agent_link_arrow">
              <a:extLst>
                <a:ext uri="{FF2B5EF4-FFF2-40B4-BE49-F238E27FC236}">
                  <a16:creationId xmlns:a16="http://schemas.microsoft.com/office/drawing/2014/main" id="{D05A4880-A1FD-4D64-B0F3-43932BDE6B4A}"/>
                </a:ext>
              </a:extLst>
            </p:cNvPr>
            <p:cNvSpPr>
              <a:spLocks noGrp="1"/>
            </p:cNvSpPr>
            <p:nvPr/>
          </p:nvSpPr>
          <p:spPr>
            <a:xfrm>
              <a:off x="10258425" y="178117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85725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E53417"/>
            </a:solidFill>
            <a:ln w="0">
              <a:solidFill>
                <a:srgbClr val="E534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anim5_return_arrow">
              <a:extLst>
                <a:ext uri="{FF2B5EF4-FFF2-40B4-BE49-F238E27FC236}">
                  <a16:creationId xmlns:a16="http://schemas.microsoft.com/office/drawing/2014/main" id="{D18E222C-0DB7-4719-9D4D-A37FF0635A27}"/>
                </a:ext>
              </a:extLst>
            </p:cNvPr>
            <p:cNvSpPr>
              <a:spLocks noGrp="1"/>
            </p:cNvSpPr>
            <p:nvPr/>
          </p:nvSpPr>
          <p:spPr>
            <a:xfrm>
              <a:off x="1714500" y="1676400"/>
              <a:ext cx="9525" cy="190500"/>
            </a:xfrm>
            <a:custGeom>
              <a:avLst/>
              <a:gdLst/>
              <a:ahLst/>
              <a:cxnLst/>
              <a:rect l="0" t="0" r="0" b="0"/>
              <a:pathLst>
                <a:path w="9525" h="190500">
                  <a:moveTo>
                    <a:pt x="0" y="0"/>
                  </a:moveTo>
                  <a:lnTo>
                    <a:pt x="0" y="190500"/>
                  </a:lnTo>
                </a:path>
              </a:pathLst>
            </a:custGeom>
            <a:noFill/>
            <a:ln w="20955">
              <a:solidFill>
                <a:srgbClr val="E5341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anim5_return_arrow_arrow">
              <a:extLst>
                <a:ext uri="{FF2B5EF4-FFF2-40B4-BE49-F238E27FC236}">
                  <a16:creationId xmlns:a16="http://schemas.microsoft.com/office/drawing/2014/main" id="{5D3243ED-6238-4E91-8F1D-35438BC6630C}"/>
                </a:ext>
              </a:extLst>
            </p:cNvPr>
            <p:cNvSpPr>
              <a:spLocks noGrp="1"/>
            </p:cNvSpPr>
            <p:nvPr/>
          </p:nvSpPr>
          <p:spPr>
            <a:xfrm>
              <a:off x="1666875" y="178117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85725"/>
                  </a:moveTo>
                  <a:lnTo>
                    <a:pt x="0" y="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E53417"/>
            </a:solidFill>
            <a:ln w="0">
              <a:solidFill>
                <a:srgbClr val="E534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anim5_agent_label">
              <a:extLst>
                <a:ext uri="{FF2B5EF4-FFF2-40B4-BE49-F238E27FC236}">
                  <a16:creationId xmlns:a16="http://schemas.microsoft.com/office/drawing/2014/main" id="{F12A417E-5D6B-49F7-BC3D-7DE45272B344}"/>
                </a:ext>
              </a:extLst>
            </p:cNvPr>
            <p:cNvSpPr>
              <a:spLocks noGrp="1"/>
            </p:cNvSpPr>
            <p:nvPr/>
          </p:nvSpPr>
          <p:spPr>
            <a:xfrm>
              <a:off x="3905250" y="1362075"/>
              <a:ext cx="50482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65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650" b="1" dirty="0">
                  <a:solidFill>
                    <a:srgbClr val="E53417"/>
                  </a:solidFill>
                  <a:latin typeface="Noto Sans"/>
                  <a:ea typeface="Noto Sans"/>
                  <a:cs typeface="Noto Sans"/>
                </a:rPr>
                <a:t>Agent interaction: A2A </a:t>
              </a:r>
            </a:p>
          </p:txBody>
        </p:sp>
      </p:grpSp>
      <p:grpSp>
        <p:nvGrpSpPr>
          <p:cNvPr id="35" name="Discover facility agent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6" name="facility_discovery_path">
              <a:extLst>
                <a:ext uri="{FF2B5EF4-FFF2-40B4-BE49-F238E27FC236}">
                  <a16:creationId xmlns:a16="http://schemas.microsoft.com/office/drawing/2014/main" id="{49150B9B-429B-4D6D-BD2D-6EC2F771C6EA}"/>
                </a:ext>
              </a:extLst>
            </p:cNvPr>
            <p:cNvSpPr>
              <a:spLocks noGrp="1"/>
            </p:cNvSpPr>
            <p:nvPr/>
          </p:nvSpPr>
          <p:spPr>
            <a:xfrm>
              <a:off x="7762875" y="2457450"/>
              <a:ext cx="2543175" cy="352425"/>
            </a:xfrm>
            <a:custGeom>
              <a:avLst/>
              <a:gdLst/>
              <a:ahLst/>
              <a:cxnLst/>
              <a:rect l="0" t="0" r="0" b="0"/>
              <a:pathLst>
                <a:path w="2543175" h="352425">
                  <a:moveTo>
                    <a:pt x="0" y="114300"/>
                  </a:moveTo>
                  <a:lnTo>
                    <a:pt x="0" y="352425"/>
                  </a:lnTo>
                  <a:lnTo>
                    <a:pt x="2543175" y="352425"/>
                  </a:lnTo>
                  <a:lnTo>
                    <a:pt x="2543175" y="0"/>
                  </a:lnTo>
                </a:path>
              </a:pathLst>
            </a:custGeom>
            <a:noFill/>
            <a:ln w="20955">
              <a:solidFill>
                <a:srgbClr val="E53417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acility_discovery_path_arrow">
              <a:extLst>
                <a:ext uri="{FF2B5EF4-FFF2-40B4-BE49-F238E27FC236}">
                  <a16:creationId xmlns:a16="http://schemas.microsoft.com/office/drawing/2014/main" id="{46362EF8-DFEE-44F9-BF54-5CF8EE3B5ABF}"/>
                </a:ext>
              </a:extLst>
            </p:cNvPr>
            <p:cNvSpPr>
              <a:spLocks noGrp="1"/>
            </p:cNvSpPr>
            <p:nvPr/>
          </p:nvSpPr>
          <p:spPr>
            <a:xfrm>
              <a:off x="10258425" y="2457450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47625" y="0"/>
                  </a:moveTo>
                  <a:lnTo>
                    <a:pt x="0" y="85725"/>
                  </a:lnTo>
                  <a:lnTo>
                    <a:pt x="95250" y="85725"/>
                  </a:lnTo>
                  <a:close/>
                </a:path>
              </a:pathLst>
            </a:custGeom>
            <a:solidFill>
              <a:srgbClr val="E53417"/>
            </a:solidFill>
            <a:ln w="0">
              <a:solidFill>
                <a:srgbClr val="E534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acility_discovery_label">
              <a:extLst>
                <a:ext uri="{FF2B5EF4-FFF2-40B4-BE49-F238E27FC236}">
                  <a16:creationId xmlns:a16="http://schemas.microsoft.com/office/drawing/2014/main" id="{7BD0645E-599F-4FF3-A5F7-411B94C23D71}"/>
                </a:ext>
              </a:extLst>
            </p:cNvPr>
            <p:cNvSpPr>
              <a:spLocks noGrp="1"/>
            </p:cNvSpPr>
            <p:nvPr/>
          </p:nvSpPr>
          <p:spPr>
            <a:xfrm>
              <a:off x="8096250" y="2886075"/>
              <a:ext cx="3333750" cy="28575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rPr>
                <a:t>Discover facility agent</a:t>
              </a:r>
            </a:p>
          </p:txBody>
        </p:sp>
      </p:grpSp>
      <p:grpSp>
        <p:nvGrpSpPr>
          <p:cNvPr id="39" name="Discover MCP server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0" name="mcp_server">
              <a:extLst>
                <a:ext uri="{FF2B5EF4-FFF2-40B4-BE49-F238E27FC236}">
                  <a16:creationId xmlns:a16="http://schemas.microsoft.com/office/drawing/2014/main" id="{D92899D3-B737-4962-BAB0-506003071EE9}"/>
                </a:ext>
              </a:extLst>
            </p:cNvPr>
            <p:cNvSpPr>
              <a:spLocks noGrp="1"/>
            </p:cNvSpPr>
            <p:nvPr/>
          </p:nvSpPr>
          <p:spPr>
            <a:xfrm>
              <a:off x="619125" y="5953125"/>
              <a:ext cx="2190750" cy="590550"/>
            </a:xfrm>
            <a:prstGeom prst="roundRect">
              <a:avLst>
                <a:gd name="adj" fmla="val 16129"/>
              </a:avLst>
            </a:prstGeom>
            <a:solidFill>
              <a:srgbClr val="FAFAFA"/>
            </a:solidFill>
            <a:ln w="19050">
              <a:solidFill>
                <a:srgbClr val="E534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mcp_server_label">
              <a:extLst>
                <a:ext uri="{FF2B5EF4-FFF2-40B4-BE49-F238E27FC236}">
                  <a16:creationId xmlns:a16="http://schemas.microsoft.com/office/drawing/2014/main" id="{2DC2F770-3079-48CE-A696-F7CD99BE5092}"/>
                </a:ext>
              </a:extLst>
            </p:cNvPr>
            <p:cNvSpPr>
              <a:spLocks noGrp="1"/>
            </p:cNvSpPr>
            <p:nvPr/>
          </p:nvSpPr>
          <p:spPr>
            <a:xfrm>
              <a:off x="733425" y="6048375"/>
              <a:ext cx="1962150" cy="3048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defPPr>
              <a:lvl1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1pPr>
              <a:lvl2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2pPr>
              <a:lvl3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3pPr>
              <a:lvl4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4pPr>
              <a:lvl5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5pPr>
              <a:lvl6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6pPr>
              <a:lvl7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7pPr>
              <a:lvl8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8pPr>
              <a:lvl9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ctr">
                <a:def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8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rPr>
                <a:t>MCP server</a:t>
              </a:r>
            </a:p>
          </p:txBody>
        </p:sp>
        <p:sp>
          <p:nvSpPr>
            <p:cNvPr id="42" name="mcp_discovery_path">
              <a:extLst>
                <a:ext uri="{FF2B5EF4-FFF2-40B4-BE49-F238E27FC236}">
                  <a16:creationId xmlns:a16="http://schemas.microsoft.com/office/drawing/2014/main" id="{5B65AC64-A82C-49C8-A7E8-F9998328DD3B}"/>
                </a:ext>
              </a:extLst>
            </p:cNvPr>
            <p:cNvSpPr>
              <a:spLocks noGrp="1"/>
            </p:cNvSpPr>
            <p:nvPr/>
          </p:nvSpPr>
          <p:spPr>
            <a:xfrm>
              <a:off x="2809875" y="2333625"/>
              <a:ext cx="1619250" cy="3914775"/>
            </a:xfrm>
            <a:custGeom>
              <a:avLst/>
              <a:gdLst/>
              <a:ahLst/>
              <a:cxnLst/>
              <a:rect l="0" t="0" r="0" b="0"/>
              <a:pathLst>
                <a:path w="1619250" h="3914775">
                  <a:moveTo>
                    <a:pt x="1619250" y="0"/>
                  </a:moveTo>
                  <a:lnTo>
                    <a:pt x="762000" y="0"/>
                  </a:lnTo>
                  <a:lnTo>
                    <a:pt x="762000" y="3914775"/>
                  </a:lnTo>
                  <a:lnTo>
                    <a:pt x="0" y="3914775"/>
                  </a:lnTo>
                </a:path>
              </a:pathLst>
            </a:custGeom>
            <a:noFill/>
            <a:ln w="20955">
              <a:solidFill>
                <a:srgbClr val="E53417"/>
              </a:solidFill>
              <a:prstDash val="dash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mcp_discovery_path_arrow">
              <a:extLst>
                <a:ext uri="{FF2B5EF4-FFF2-40B4-BE49-F238E27FC236}">
                  <a16:creationId xmlns:a16="http://schemas.microsoft.com/office/drawing/2014/main" id="{F79FD209-67FA-4475-B8F3-F6EAAC0048F2}"/>
                </a:ext>
              </a:extLst>
            </p:cNvPr>
            <p:cNvSpPr>
              <a:spLocks noGrp="1"/>
            </p:cNvSpPr>
            <p:nvPr/>
          </p:nvSpPr>
          <p:spPr>
            <a:xfrm>
              <a:off x="2809875" y="620077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0" y="47625"/>
                  </a:moveTo>
                  <a:lnTo>
                    <a:pt x="85725" y="0"/>
                  </a:lnTo>
                  <a:lnTo>
                    <a:pt x="85725" y="95250"/>
                  </a:lnTo>
                  <a:close/>
                </a:path>
              </a:pathLst>
            </a:custGeom>
            <a:solidFill>
              <a:srgbClr val="E53417"/>
            </a:solidFill>
            <a:ln w="0">
              <a:solidFill>
                <a:srgbClr val="E534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mcp_discovery_label">
              <a:extLst>
                <a:ext uri="{FF2B5EF4-FFF2-40B4-BE49-F238E27FC236}">
                  <a16:creationId xmlns:a16="http://schemas.microsoft.com/office/drawing/2014/main" id="{ED3366ED-8803-4D50-A325-10CC24E4790B}"/>
                </a:ext>
              </a:extLst>
            </p:cNvPr>
            <p:cNvSpPr>
              <a:spLocks noGrp="1"/>
            </p:cNvSpPr>
            <p:nvPr/>
          </p:nvSpPr>
          <p:spPr>
            <a:xfrm>
              <a:off x="3667125" y="3476625"/>
              <a:ext cx="1524000" cy="609600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rPr>
                <a:t>Discover</a:t>
              </a:r>
            </a:p>
            <a:p>
              <a:pPr algn="l">
                <a:def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00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rPr>
                <a:t>MCP server</a:t>
              </a:r>
            </a:p>
          </p:txBody>
        </p:sp>
      </p:grpSp>
      <p:grpSp>
        <p:nvGrpSpPr>
          <p:cNvPr id="45" name="Use MCP tools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6" name="mcp_tool_path">
              <a:extLst>
                <a:ext uri="{FF2B5EF4-FFF2-40B4-BE49-F238E27FC236}">
                  <a16:creationId xmlns:a16="http://schemas.microsoft.com/office/drawing/2014/main" id="{D88DEFD4-59BE-444D-AB07-8731836FB452}"/>
                </a:ext>
              </a:extLst>
            </p:cNvPr>
            <p:cNvSpPr>
              <a:spLocks noGrp="1"/>
            </p:cNvSpPr>
            <p:nvPr/>
          </p:nvSpPr>
          <p:spPr>
            <a:xfrm>
              <a:off x="333375" y="2162175"/>
              <a:ext cx="285750" cy="4086225"/>
            </a:xfrm>
            <a:custGeom>
              <a:avLst/>
              <a:gdLst/>
              <a:ahLst/>
              <a:cxnLst/>
              <a:rect l="0" t="0" r="0" b="0"/>
              <a:pathLst>
                <a:path w="285750" h="4086225">
                  <a:moveTo>
                    <a:pt x="285750" y="0"/>
                  </a:moveTo>
                  <a:lnTo>
                    <a:pt x="0" y="0"/>
                  </a:lnTo>
                  <a:lnTo>
                    <a:pt x="0" y="4086225"/>
                  </a:lnTo>
                  <a:lnTo>
                    <a:pt x="285750" y="4086225"/>
                  </a:lnTo>
                </a:path>
              </a:pathLst>
            </a:custGeom>
            <a:noFill/>
            <a:ln w="20955">
              <a:solidFill>
                <a:srgbClr val="E53417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mcp_tool_path_arrow">
              <a:extLst>
                <a:ext uri="{FF2B5EF4-FFF2-40B4-BE49-F238E27FC236}">
                  <a16:creationId xmlns:a16="http://schemas.microsoft.com/office/drawing/2014/main" id="{1274AE69-6EA7-4E8E-9320-670E60146FDA}"/>
                </a:ext>
              </a:extLst>
            </p:cNvPr>
            <p:cNvSpPr>
              <a:spLocks noGrp="1"/>
            </p:cNvSpPr>
            <p:nvPr/>
          </p:nvSpPr>
          <p:spPr>
            <a:xfrm>
              <a:off x="533400" y="6200775"/>
              <a:ext cx="95250" cy="95250"/>
            </a:xfrm>
            <a:custGeom>
              <a:avLst/>
              <a:gdLst/>
              <a:ahLst/>
              <a:cxnLst/>
              <a:rect l="0" t="0" r="0" b="0"/>
              <a:pathLst>
                <a:path w="95250" h="95250">
                  <a:moveTo>
                    <a:pt x="85725" y="47625"/>
                  </a:moveTo>
                  <a:lnTo>
                    <a:pt x="0" y="0"/>
                  </a:lnTo>
                  <a:lnTo>
                    <a:pt x="0" y="95250"/>
                  </a:lnTo>
                  <a:close/>
                </a:path>
              </a:pathLst>
            </a:custGeom>
            <a:solidFill>
              <a:srgbClr val="E53417"/>
            </a:solidFill>
            <a:ln w="0">
              <a:solidFill>
                <a:srgbClr val="E53417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mcp_tool_label">
              <a:extLst>
                <a:ext uri="{FF2B5EF4-FFF2-40B4-BE49-F238E27FC236}">
                  <a16:creationId xmlns:a16="http://schemas.microsoft.com/office/drawing/2014/main" id="{4B38D10C-AFCC-4399-8702-A59BC8207363}"/>
                </a:ext>
              </a:extLst>
            </p:cNvPr>
            <p:cNvSpPr>
              <a:spLocks noGrp="1"/>
            </p:cNvSpPr>
            <p:nvPr/>
          </p:nvSpPr>
          <p:spPr>
            <a:xfrm>
              <a:off x="457200" y="3905250"/>
              <a:ext cx="809625" cy="619125"/>
            </a:xfrm>
            <a:prstGeom prst="rect">
              <a:avLst/>
            </a:prstGeom>
            <a:noFill/>
            <a:ln w="0">
              <a:noFill/>
            </a:ln>
          </p:spPr>
          <p:txBody>
            <a:bodyPr wrap="square" lIns="0" tIns="0" rIns="0" bIns="0" anchor="t">
              <a:noAutofit/>
            </a:bodyPr>
            <a:lstStyle>
              <a:def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defPPr>
              <a:lvl1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1pPr>
              <a:lvl2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2pPr>
              <a:lvl3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3pPr>
              <a:lvl4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4pPr>
              <a:lvl5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5pPr>
              <a:lvl6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6pPr>
              <a:lvl7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7pPr>
              <a:lvl8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8pPr>
              <a:lvl9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lvl9pPr>
            </a:lstStyle>
            <a:p>
              <a: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rPr>
                <a:t>Use</a:t>
              </a:r>
            </a:p>
            <a:p>
              <a:pPr algn="l">
                <a:def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defRPr>
              </a:pPr>
              <a:r>
                <a:rPr sz="1575" b="1">
                  <a:solidFill>
                    <a:srgbClr val="E53417"/>
                  </a:solidFill>
                  <a:latin typeface="Noto Sans"/>
                  <a:ea typeface="Noto Sans"/>
                  <a:cs typeface="Noto Sans"/>
                </a:rPr>
                <a:t>tools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073465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/>
      <p:bldP spid="28" grpId="0"/>
      <p:bldP spid="29" grpId="0"/>
      <p:bldP spid="35" grpId="0"/>
      <p:bldP spid="39" grpId="0"/>
      <p:bldP spid="4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How the Web supports the laboratory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69F06C9-424C-407C-B99A-C22F663B0FC3}"/>
              </a:ext>
            </a:extLst>
          </p:cNvPr>
          <p:cNvGraphicFramePr/>
          <p:nvPr/>
        </p:nvGraphicFramePr>
        <p:xfrm>
          <a:off x="619125" y="2238375"/>
          <a:ext cx="10953750" cy="3370898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3438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Laboratory concern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Web / hypermedia contribution</a:t>
                      </a: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Find suitable equipment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Follow linked descriptions of instruments, capabilities and availability, and discover relevant interfaces.</a:t>
                      </a: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Understand processes and policies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Inspect linked requirements and policies; use controls offered for the resource’s current state.</a:t>
                      </a: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33438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Respond to change</a:t>
                      </a:r>
                    </a:p>
                  </a:txBody>
                  <a:tcPr marL="133350" marR="133350" marT="114300" marB="1143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Observe resource updates, inspect their effect on the reservation and identify available next steps.</a:t>
                      </a:r>
                    </a:p>
                  </a:txBody>
                  <a:tcPr marL="133350" marR="133350" marT="114300" marB="1143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" name="takeaway">
            <a:extLst>
              <a:ext uri="{FF2B5EF4-FFF2-40B4-BE49-F238E27FC236}">
                <a16:creationId xmlns:a16="http://schemas.microsoft.com/office/drawing/2014/main" id="{038DBAD7-9607-4F7C-A2E0-756815C3E68E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Resource navigation, tool use and agent delegation</a:t>
            </a:r>
          </a:p>
          <a:p>
            <a: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can refer to the same shared environment.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99218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Working with an unfamiliar laboratory</a:t>
            </a:r>
          </a:p>
        </p:txBody>
      </p:sp>
      <p:sp>
        <p:nvSpPr>
          <p:cNvPr id="4" name="same_agent">
            <a:extLst>
              <a:ext uri="{FF2B5EF4-FFF2-40B4-BE49-F238E27FC236}">
                <a16:creationId xmlns:a16="http://schemas.microsoft.com/office/drawing/2014/main" id="{7F085F7C-67CB-4AC0-A17A-AC17A9F2B652}"/>
              </a:ext>
            </a:extLst>
          </p:cNvPr>
          <p:cNvSpPr>
            <a:spLocks noGrp="1"/>
          </p:cNvSpPr>
          <p:nvPr/>
        </p:nvSpPr>
        <p:spPr>
          <a:xfrm>
            <a:off x="4000500" y="1857375"/>
            <a:ext cx="4191000" cy="590550"/>
          </a:xfrm>
          <a:prstGeom prst="roundRect">
            <a:avLst>
              <a:gd name="adj" fmla="val 16129"/>
            </a:avLst>
          </a:prstGeom>
          <a:solidFill>
            <a:srgbClr val="FAFAFA"/>
          </a:solidFill>
          <a:ln w="19050">
            <a:solidFill>
              <a:srgbClr val="005A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same_agent_label">
            <a:extLst>
              <a:ext uri="{FF2B5EF4-FFF2-40B4-BE49-F238E27FC236}">
                <a16:creationId xmlns:a16="http://schemas.microsoft.com/office/drawing/2014/main" id="{D4F6BA04-7961-41DD-9DC0-A0BD671EECA5}"/>
              </a:ext>
            </a:extLst>
          </p:cNvPr>
          <p:cNvSpPr>
            <a:spLocks noGrp="1"/>
          </p:cNvSpPr>
          <p:nvPr/>
        </p:nvSpPr>
        <p:spPr>
          <a:xfrm>
            <a:off x="4114800" y="1952625"/>
            <a:ext cx="396240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The same research agent</a:t>
            </a:r>
          </a:p>
        </p:txBody>
      </p:sp>
      <p:sp>
        <p:nvSpPr>
          <p:cNvPr id="6" name="facility_a">
            <a:extLst>
              <a:ext uri="{FF2B5EF4-FFF2-40B4-BE49-F238E27FC236}">
                <a16:creationId xmlns:a16="http://schemas.microsoft.com/office/drawing/2014/main" id="{625A7FA9-B9A6-4AB3-80F4-1BD729AB1B34}"/>
              </a:ext>
            </a:extLst>
          </p:cNvPr>
          <p:cNvSpPr>
            <a:spLocks noGrp="1"/>
          </p:cNvSpPr>
          <p:nvPr/>
        </p:nvSpPr>
        <p:spPr>
          <a:xfrm>
            <a:off x="1190625" y="3048000"/>
            <a:ext cx="4286250" cy="9525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0D30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" name="facility_a_label">
            <a:extLst>
              <a:ext uri="{FF2B5EF4-FFF2-40B4-BE49-F238E27FC236}">
                <a16:creationId xmlns:a16="http://schemas.microsoft.com/office/drawing/2014/main" id="{9962A91A-8A5A-48BF-ACDD-53F3B9C7AD57}"/>
              </a:ext>
            </a:extLst>
          </p:cNvPr>
          <p:cNvSpPr>
            <a:spLocks noGrp="1"/>
          </p:cNvSpPr>
          <p:nvPr/>
        </p:nvSpPr>
        <p:spPr>
          <a:xfrm>
            <a:off x="1304925" y="3143250"/>
            <a:ext cx="4057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Facility A</a:t>
            </a:r>
          </a:p>
        </p:txBody>
      </p:sp>
      <p:sp>
        <p:nvSpPr>
          <p:cNvPr id="8" name="facility_a_sub">
            <a:extLst>
              <a:ext uri="{FF2B5EF4-FFF2-40B4-BE49-F238E27FC236}">
                <a16:creationId xmlns:a16="http://schemas.microsoft.com/office/drawing/2014/main" id="{6DA22170-3D82-4763-8637-E0411C53A872}"/>
              </a:ext>
            </a:extLst>
          </p:cNvPr>
          <p:cNvSpPr>
            <a:spLocks noGrp="1"/>
          </p:cNvSpPr>
          <p:nvPr/>
        </p:nvSpPr>
        <p:spPr>
          <a:xfrm>
            <a:off x="1285875" y="345757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Instrument A · Local processes and policies</a:t>
            </a:r>
          </a:p>
        </p:txBody>
      </p:sp>
      <p:sp>
        <p:nvSpPr>
          <p:cNvPr id="9" name="facility_b">
            <a:extLst>
              <a:ext uri="{FF2B5EF4-FFF2-40B4-BE49-F238E27FC236}">
                <a16:creationId xmlns:a16="http://schemas.microsoft.com/office/drawing/2014/main" id="{115B9658-7BAE-420A-B6AB-0D7C014AB55D}"/>
              </a:ext>
            </a:extLst>
          </p:cNvPr>
          <p:cNvSpPr>
            <a:spLocks noGrp="1"/>
          </p:cNvSpPr>
          <p:nvPr/>
        </p:nvSpPr>
        <p:spPr>
          <a:xfrm>
            <a:off x="6715125" y="3048000"/>
            <a:ext cx="4286250" cy="952500"/>
          </a:xfrm>
          <a:prstGeom prst="roundRect">
            <a:avLst>
              <a:gd name="adj" fmla="val 10000"/>
            </a:avLst>
          </a:prstGeom>
          <a:solidFill>
            <a:srgbClr val="FAFAFA"/>
          </a:solidFill>
          <a:ln w="19050">
            <a:solidFill>
              <a:srgbClr val="0D302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facility_b_label">
            <a:extLst>
              <a:ext uri="{FF2B5EF4-FFF2-40B4-BE49-F238E27FC236}">
                <a16:creationId xmlns:a16="http://schemas.microsoft.com/office/drawing/2014/main" id="{DA3CE097-6510-4C4E-93C8-70969C691B1A}"/>
              </a:ext>
            </a:extLst>
          </p:cNvPr>
          <p:cNvSpPr>
            <a:spLocks noGrp="1"/>
          </p:cNvSpPr>
          <p:nvPr/>
        </p:nvSpPr>
        <p:spPr>
          <a:xfrm>
            <a:off x="6829425" y="3143250"/>
            <a:ext cx="40576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Facility B</a:t>
            </a:r>
          </a:p>
        </p:txBody>
      </p:sp>
      <p:sp>
        <p:nvSpPr>
          <p:cNvPr id="11" name="facility_b_sub">
            <a:extLst>
              <a:ext uri="{FF2B5EF4-FFF2-40B4-BE49-F238E27FC236}">
                <a16:creationId xmlns:a16="http://schemas.microsoft.com/office/drawing/2014/main" id="{AEAEDC59-F4B1-4FEB-A698-56995B058846}"/>
              </a:ext>
            </a:extLst>
          </p:cNvPr>
          <p:cNvSpPr>
            <a:spLocks noGrp="1"/>
          </p:cNvSpPr>
          <p:nvPr/>
        </p:nvSpPr>
        <p:spPr>
          <a:xfrm>
            <a:off x="6810375" y="3457575"/>
            <a:ext cx="4095750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ctr">
              <a:def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15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Instrument B · Different processes and policies</a:t>
            </a:r>
          </a:p>
        </p:txBody>
      </p:sp>
      <p:sp>
        <p:nvSpPr>
          <p:cNvPr id="12" name="linka">
            <a:extLst>
              <a:ext uri="{FF2B5EF4-FFF2-40B4-BE49-F238E27FC236}">
                <a16:creationId xmlns:a16="http://schemas.microsoft.com/office/drawing/2014/main" id="{DC376CDE-5B37-4B3B-BBF7-85CDEFC37BCD}"/>
              </a:ext>
            </a:extLst>
          </p:cNvPr>
          <p:cNvSpPr>
            <a:spLocks noGrp="1"/>
          </p:cNvSpPr>
          <p:nvPr/>
        </p:nvSpPr>
        <p:spPr>
          <a:xfrm>
            <a:off x="3333750" y="2447925"/>
            <a:ext cx="1714500" cy="600075"/>
          </a:xfrm>
          <a:custGeom>
            <a:avLst/>
            <a:gdLst/>
            <a:ahLst/>
            <a:cxnLst/>
            <a:rect l="0" t="0" r="0" b="0"/>
            <a:pathLst>
              <a:path w="1714500" h="600075">
                <a:moveTo>
                  <a:pt x="1714500" y="0"/>
                </a:moveTo>
                <a:lnTo>
                  <a:pt x="1714500" y="266700"/>
                </a:lnTo>
                <a:lnTo>
                  <a:pt x="0" y="266700"/>
                </a:lnTo>
                <a:lnTo>
                  <a:pt x="0" y="600075"/>
                </a:lnTo>
              </a:path>
            </a:pathLst>
          </a:custGeom>
          <a:noFill/>
          <a:ln w="20955">
            <a:solidFill>
              <a:srgbClr val="00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linka_arrow">
            <a:extLst>
              <a:ext uri="{FF2B5EF4-FFF2-40B4-BE49-F238E27FC236}">
                <a16:creationId xmlns:a16="http://schemas.microsoft.com/office/drawing/2014/main" id="{8D9D2BEF-77DD-415C-B7BA-E069FDE2C653}"/>
              </a:ext>
            </a:extLst>
          </p:cNvPr>
          <p:cNvSpPr>
            <a:spLocks noGrp="1"/>
          </p:cNvSpPr>
          <p:nvPr/>
        </p:nvSpPr>
        <p:spPr>
          <a:xfrm>
            <a:off x="3286125" y="2962275"/>
            <a:ext cx="95250" cy="95250"/>
          </a:xfrm>
          <a:custGeom>
            <a:avLst/>
            <a:gdLst/>
            <a:ahLst/>
            <a:cxnLst/>
            <a:rect l="0" t="0" r="0" b="0"/>
            <a:pathLst>
              <a:path w="95250" h="95250">
                <a:moveTo>
                  <a:pt x="47625" y="8572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05A9C"/>
          </a:solidFill>
          <a:ln w="0">
            <a:solidFill>
              <a:srgbClr val="005A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linkb">
            <a:extLst>
              <a:ext uri="{FF2B5EF4-FFF2-40B4-BE49-F238E27FC236}">
                <a16:creationId xmlns:a16="http://schemas.microsoft.com/office/drawing/2014/main" id="{CD13C277-2C75-4ED3-96EC-138FF8936FE0}"/>
              </a:ext>
            </a:extLst>
          </p:cNvPr>
          <p:cNvSpPr>
            <a:spLocks noGrp="1"/>
          </p:cNvSpPr>
          <p:nvPr/>
        </p:nvSpPr>
        <p:spPr>
          <a:xfrm>
            <a:off x="7143750" y="2447925"/>
            <a:ext cx="1714500" cy="600075"/>
          </a:xfrm>
          <a:custGeom>
            <a:avLst/>
            <a:gdLst/>
            <a:ahLst/>
            <a:cxnLst/>
            <a:rect l="0" t="0" r="0" b="0"/>
            <a:pathLst>
              <a:path w="1714500" h="600075">
                <a:moveTo>
                  <a:pt x="0" y="0"/>
                </a:moveTo>
                <a:lnTo>
                  <a:pt x="0" y="266700"/>
                </a:lnTo>
                <a:lnTo>
                  <a:pt x="1714500" y="266700"/>
                </a:lnTo>
                <a:lnTo>
                  <a:pt x="1714500" y="600075"/>
                </a:lnTo>
              </a:path>
            </a:pathLst>
          </a:custGeom>
          <a:noFill/>
          <a:ln w="20955">
            <a:solidFill>
              <a:srgbClr val="005A9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linkb_arrow">
            <a:extLst>
              <a:ext uri="{FF2B5EF4-FFF2-40B4-BE49-F238E27FC236}">
                <a16:creationId xmlns:a16="http://schemas.microsoft.com/office/drawing/2014/main" id="{BEB639B4-852C-43A3-9BCB-58840E272791}"/>
              </a:ext>
            </a:extLst>
          </p:cNvPr>
          <p:cNvSpPr>
            <a:spLocks noGrp="1"/>
          </p:cNvSpPr>
          <p:nvPr/>
        </p:nvSpPr>
        <p:spPr>
          <a:xfrm>
            <a:off x="8810625" y="2962275"/>
            <a:ext cx="95250" cy="95250"/>
          </a:xfrm>
          <a:custGeom>
            <a:avLst/>
            <a:gdLst/>
            <a:ahLst/>
            <a:cxnLst/>
            <a:rect l="0" t="0" r="0" b="0"/>
            <a:pathLst>
              <a:path w="95250" h="95250">
                <a:moveTo>
                  <a:pt x="47625" y="85725"/>
                </a:moveTo>
                <a:lnTo>
                  <a:pt x="0" y="0"/>
                </a:lnTo>
                <a:lnTo>
                  <a:pt x="95250" y="0"/>
                </a:lnTo>
                <a:close/>
              </a:path>
            </a:pathLst>
          </a:custGeom>
          <a:solidFill>
            <a:srgbClr val="005A9C"/>
          </a:solidFill>
          <a:ln w="0">
            <a:solidFill>
              <a:srgbClr val="005A9C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mcp_heading">
            <a:extLst>
              <a:ext uri="{FF2B5EF4-FFF2-40B4-BE49-F238E27FC236}">
                <a16:creationId xmlns:a16="http://schemas.microsoft.com/office/drawing/2014/main" id="{652BA049-C7A0-42D3-949C-51DEE16FC5DC}"/>
              </a:ext>
            </a:extLst>
          </p:cNvPr>
          <p:cNvSpPr>
            <a:spLocks noGrp="1"/>
          </p:cNvSpPr>
          <p:nvPr/>
        </p:nvSpPr>
        <p:spPr>
          <a:xfrm>
            <a:off x="619125" y="44291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MCP / A2A</a:t>
            </a:r>
          </a:p>
        </p:txBody>
      </p:sp>
      <p:sp>
        <p:nvSpPr>
          <p:cNvPr id="17" name="mcp_explanation">
            <a:extLst>
              <a:ext uri="{FF2B5EF4-FFF2-40B4-BE49-F238E27FC236}">
                <a16:creationId xmlns:a16="http://schemas.microsoft.com/office/drawing/2014/main" id="{5145DBBC-6D21-4780-AFA2-94ADDACA5E57}"/>
              </a:ext>
            </a:extLst>
          </p:cNvPr>
          <p:cNvSpPr>
            <a:spLocks noGrp="1"/>
          </p:cNvSpPr>
          <p:nvPr/>
        </p:nvSpPr>
        <p:spPr>
          <a:xfrm>
            <a:off x="619125" y="4905375"/>
            <a:ext cx="5143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Inspect tool and resource descriptions, or ask the facility agent about its procedures.</a:t>
            </a:r>
          </a:p>
        </p:txBody>
      </p:sp>
      <p:sp>
        <p:nvSpPr>
          <p:cNvPr id="18" name="web_heading">
            <a:extLst>
              <a:ext uri="{FF2B5EF4-FFF2-40B4-BE49-F238E27FC236}">
                <a16:creationId xmlns:a16="http://schemas.microsoft.com/office/drawing/2014/main" id="{9ED1A84D-1A13-4675-BE08-7892994CD209}"/>
              </a:ext>
            </a:extLst>
          </p:cNvPr>
          <p:cNvSpPr>
            <a:spLocks noGrp="1"/>
          </p:cNvSpPr>
          <p:nvPr/>
        </p:nvSpPr>
        <p:spPr>
          <a:xfrm>
            <a:off x="6381750" y="4429125"/>
            <a:ext cx="5143500" cy="3810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175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Web / hypermedia</a:t>
            </a:r>
          </a:p>
        </p:txBody>
      </p:sp>
      <p:sp>
        <p:nvSpPr>
          <p:cNvPr id="19" name="web_explanation">
            <a:extLst>
              <a:ext uri="{FF2B5EF4-FFF2-40B4-BE49-F238E27FC236}">
                <a16:creationId xmlns:a16="http://schemas.microsoft.com/office/drawing/2014/main" id="{871E9BA6-21FC-401F-82F6-8A698C37C83D}"/>
              </a:ext>
            </a:extLst>
          </p:cNvPr>
          <p:cNvSpPr>
            <a:spLocks noGrp="1"/>
          </p:cNvSpPr>
          <p:nvPr/>
        </p:nvSpPr>
        <p:spPr>
          <a:xfrm>
            <a:off x="6381750" y="4905375"/>
            <a:ext cx="5143500" cy="1095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025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Inspect linked resources and controls describing current state and available interactions.</a:t>
            </a:r>
          </a:p>
        </p:txBody>
      </p:sp>
      <p:sp>
        <p:nvSpPr>
          <p:cNvPr id="20" name="takeaway">
            <a:extLst>
              <a:ext uri="{FF2B5EF4-FFF2-40B4-BE49-F238E27FC236}">
                <a16:creationId xmlns:a16="http://schemas.microsoft.com/office/drawing/2014/main" id="{2257509A-85B0-4913-830F-304F4214C56C}"/>
              </a:ext>
            </a:extLst>
          </p:cNvPr>
          <p:cNvSpPr>
            <a:spLocks noGrp="1"/>
          </p:cNvSpPr>
          <p:nvPr/>
        </p:nvSpPr>
        <p:spPr>
          <a:xfrm>
            <a:off x="619125" y="6334125"/>
            <a:ext cx="10953750" cy="4286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Both require interpretation, suitability assessment and authorization.</a:t>
            </a:r>
          </a:p>
        </p:txBody>
      </p:sp>
      <p:sp>
        <p:nvSpPr>
          <p:cNvPr id="21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18</a:t>
            </a:fld>
            <a:endParaRPr lang="en-US"/>
          </a:p>
        </p:txBody>
      </p:sp>
      <p:sp>
        <p:nvSpPr>
          <p:cNvPr id="22" name="shared_environment_principle">
            <a:extLst>
              <a:ext uri="{FF2B5EF4-FFF2-40B4-BE49-F238E27FC236}">
                <a16:creationId xmlns:a16="http://schemas.microsoft.com/office/drawing/2014/main" id="{2257509A-85B0-4913-830F-304F4214C56C}"/>
              </a:ext>
            </a:extLst>
          </p:cNvPr>
          <p:cNvSpPr>
            <a:spLocks noGrp="1"/>
          </p:cNvSpPr>
          <p:nvPr/>
        </p:nvSpPr>
        <p:spPr>
          <a:xfrm>
            <a:off x="619124" y="5940882"/>
            <a:ext cx="11219089" cy="5238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9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900" b="1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MCP/A2A can support a shared environment; hypermedia makes it the </a:t>
            </a:r>
            <a:r>
              <a:rPr sz="190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organizing principle</a:t>
            </a:r>
            <a:r>
              <a:rPr sz="1900" b="1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215234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When ongoing work changes</a:t>
            </a:r>
          </a:p>
        </p:txBody>
      </p:sp>
      <p:sp>
        <p:nvSpPr>
          <p:cNvPr id="4" name="shared_test">
            <a:extLst>
              <a:ext uri="{FF2B5EF4-FFF2-40B4-BE49-F238E27FC236}">
                <a16:creationId xmlns:a16="http://schemas.microsoft.com/office/drawing/2014/main" id="{A0429365-3BB9-4729-9A80-F2D99E1C5FC6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Both approaches must support awareness, interpretation and response.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FFC3ED-D926-476B-B001-C5D6C2114B0B}"/>
              </a:ext>
            </a:extLst>
          </p:cNvPr>
          <p:cNvGraphicFramePr/>
          <p:nvPr/>
        </p:nvGraphicFramePr>
        <p:xfrm>
          <a:off x="619125" y="2524125"/>
          <a:ext cx="10953750" cy="318516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Change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must the agent establish?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Booking policy changes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changed, does it affect this reservation, and what can I do now?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The instrument fails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happens to the booking and commitments, and who must act?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Another agent takes over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What is the current state, what was agreed, and what authority does the replacement need?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akeaway">
            <a:extLst>
              <a:ext uri="{FF2B5EF4-FFF2-40B4-BE49-F238E27FC236}">
                <a16:creationId xmlns:a16="http://schemas.microsoft.com/office/drawing/2014/main" id="{B69E58C2-5611-4F11-9037-BE8EBA458C8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025" b="1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How do MCP/A2A and Web/hypermedia help agents respond to change?</a:t>
            </a:r>
          </a:p>
          <a:p>
            <a:pPr algn="l">
              <a:defRPr sz="20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endParaRPr sz="2025" b="1" dirty="0">
              <a:solidFill>
                <a:srgbClr val="0D3020"/>
              </a:solidFill>
              <a:latin typeface="Noto Sans"/>
              <a:ea typeface="Noto Sans"/>
              <a:cs typeface="Noto Sans"/>
            </a:endParaRPr>
          </a:p>
        </p:txBody>
      </p:sp>
      <p:sp>
        <p:nvSpPr>
          <p:cNvPr id="7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When ongoing work changes</a:t>
            </a:r>
          </a:p>
        </p:txBody>
      </p:sp>
      <p:sp>
        <p:nvSpPr>
          <p:cNvPr id="4" name="shared_test">
            <a:extLst>
              <a:ext uri="{FF2B5EF4-FFF2-40B4-BE49-F238E27FC236}">
                <a16:creationId xmlns:a16="http://schemas.microsoft.com/office/drawing/2014/main" id="{A0429365-3BB9-4729-9A80-F2D99E1C5FC6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Both approaches must support awareness, interpretation and response.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FFC3ED-D926-476B-B001-C5D6C2114B0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25125348"/>
              </p:ext>
            </p:extLst>
          </p:nvPr>
        </p:nvGraphicFramePr>
        <p:xfrm>
          <a:off x="619125" y="2524124"/>
          <a:ext cx="10953750" cy="3141891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7962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Change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For MCP/A2A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422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Booking policy changes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Read changed policy and booking via resources/tools; infer next steps from descriptions or facility dialogue.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7422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The instrument fails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Query booking and obligations; use recovery tools or delegate resolution to the facility agent.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7422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Another agent takes over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00" dirty="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Load persisted task context and booking state; establish authority before continuing through tools or delegation.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akeaway">
            <a:extLst>
              <a:ext uri="{FF2B5EF4-FFF2-40B4-BE49-F238E27FC236}">
                <a16:creationId xmlns:a16="http://schemas.microsoft.com/office/drawing/2014/main" id="{B69E58C2-5611-4F11-9037-BE8EBA458C8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MCP resources and notifications can expose change.</a:t>
            </a:r>
          </a:p>
          <a:p>
            <a: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The implementation connects observations, state and available actions.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6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When ongoing work changes</a:t>
            </a:r>
          </a:p>
        </p:txBody>
      </p:sp>
      <p:sp>
        <p:nvSpPr>
          <p:cNvPr id="4" name="shared_test">
            <a:extLst>
              <a:ext uri="{FF2B5EF4-FFF2-40B4-BE49-F238E27FC236}">
                <a16:creationId xmlns:a16="http://schemas.microsoft.com/office/drawing/2014/main" id="{A0429365-3BB9-4729-9A80-F2D99E1C5FC6}"/>
              </a:ext>
            </a:extLst>
          </p:cNvPr>
          <p:cNvSpPr>
            <a:spLocks noGrp="1"/>
          </p:cNvSpPr>
          <p:nvPr/>
        </p:nvSpPr>
        <p:spPr>
          <a:xfrm>
            <a:off x="619125" y="1762125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Both approaches must support awareness, interpretation and response.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CFFC3ED-D926-476B-B001-C5D6C2114B0B}"/>
              </a:ext>
            </a:extLst>
          </p:cNvPr>
          <p:cNvGraphicFramePr/>
          <p:nvPr/>
        </p:nvGraphicFramePr>
        <p:xfrm>
          <a:off x="619125" y="2524125"/>
          <a:ext cx="10953750" cy="3070860"/>
        </p:xfrm>
        <a:graphic>
          <a:graphicData uri="http://schemas.openxmlformats.org/drawingml/2006/table">
            <a:tbl>
              <a:tblPr/>
              <a:tblGrid>
                <a:gridCol w="3429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47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Change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For Web/Hypermedia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Booking policy changes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Inspect linked policy and reservation; assess the impact and use the controls currently offered.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The instrument fails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Inspect booking state and commitments; follow offered recovery controls or contact the responsible agent.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Another agent takes over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90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Follow the reservation URI to shared state, commitments and controls; establish the replacement’s authority.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akeaway">
            <a:extLst>
              <a:ext uri="{FF2B5EF4-FFF2-40B4-BE49-F238E27FC236}">
                <a16:creationId xmlns:a16="http://schemas.microsoft.com/office/drawing/2014/main" id="{B69E58C2-5611-4F11-9037-BE8EBA458C8F}"/>
              </a:ext>
            </a:extLst>
          </p:cNvPr>
          <p:cNvSpPr>
            <a:spLocks noGrp="1"/>
          </p:cNvSpPr>
          <p:nvPr/>
        </p:nvSpPr>
        <p:spPr>
          <a:xfrm>
            <a:off x="619125" y="6048375"/>
            <a:ext cx="10953750" cy="714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Representations explicitly connect state, relationships and controls.</a:t>
            </a:r>
          </a:p>
          <a:p>
            <a:pPr algn="l">
              <a:def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5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Observation, interpretation and authority still require design.</a:t>
            </a:r>
          </a:p>
        </p:txBody>
      </p:sp>
      <p:sp>
        <p:nvSpPr>
          <p:cNvPr id="7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95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 dirty="0">
                <a:solidFill>
                  <a:schemeClr val="accent1"/>
                </a:solidFill>
              </a:rPr>
              <a:t>How the </a:t>
            </a:r>
            <a:r>
              <a:rPr lang="en-IE" sz="4226" b="1" dirty="0">
                <a:solidFill>
                  <a:schemeClr val="accent1"/>
                </a:solidFill>
              </a:rPr>
              <a:t>Web</a:t>
            </a:r>
            <a:r>
              <a:rPr sz="4226" b="1" dirty="0">
                <a:solidFill>
                  <a:schemeClr val="accent1"/>
                </a:solidFill>
              </a:rPr>
              <a:t> support</a:t>
            </a:r>
            <a:r>
              <a:rPr lang="en-IE" sz="4226" b="1" dirty="0">
                <a:solidFill>
                  <a:schemeClr val="accent1"/>
                </a:solidFill>
              </a:rPr>
              <a:t> </a:t>
            </a:r>
            <a:r>
              <a:rPr sz="4226" b="1" dirty="0">
                <a:solidFill>
                  <a:schemeClr val="accent1"/>
                </a:solidFill>
              </a:rPr>
              <a:t>the design goals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56BB68B-0F35-4F03-8C7E-1EF7AF1A145A}"/>
              </a:ext>
            </a:extLst>
          </p:cNvPr>
          <p:cNvGraphicFramePr/>
          <p:nvPr/>
        </p:nvGraphicFramePr>
        <p:xfrm>
          <a:off x="619125" y="2238375"/>
          <a:ext cx="10953750" cy="3756660"/>
        </p:xfrm>
        <a:graphic>
          <a:graphicData uri="http://schemas.openxmlformats.org/drawingml/2006/table">
            <a:tbl>
              <a:tblPr/>
              <a:tblGrid>
                <a:gridCol w="6191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62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Architectural feature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Goals it can support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Linked, recognizable resource descriptions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Discoverability and interoperability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Observable state and explicit interaction controls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Resource monitoring and situatedness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Persistent shared resources and explicit commitments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Transparency and evolvability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Described access requirements and enforced permissions</a:t>
                      </a:r>
                    </a:p>
                  </a:txBody>
                  <a:tcPr marL="133350" marR="133350" marT="95250" marB="9525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2025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Security and safeguards for value alignment</a:t>
                      </a:r>
                    </a:p>
                  </a:txBody>
                  <a:tcPr marL="133350" marR="133350" marT="95250" marB="9525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akeaway">
            <a:extLst>
              <a:ext uri="{FF2B5EF4-FFF2-40B4-BE49-F238E27FC236}">
                <a16:creationId xmlns:a16="http://schemas.microsoft.com/office/drawing/2014/main" id="{B3E40807-A3B6-475F-B16B-023F84BB93D3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These features support the goals; they do not guarantee them.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3913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Why standards matter</a:t>
            </a:r>
          </a:p>
        </p:txBody>
      </p:sp>
      <p:sp>
        <p:nvSpPr>
          <p:cNvPr id="4" name="standards_question">
            <a:extLst>
              <a:ext uri="{FF2B5EF4-FFF2-40B4-BE49-F238E27FC236}">
                <a16:creationId xmlns:a16="http://schemas.microsoft.com/office/drawing/2014/main" id="{A26E309F-9450-417E-98F5-6672D456450E}"/>
              </a:ext>
            </a:extLst>
          </p:cNvPr>
          <p:cNvSpPr>
            <a:spLocks noGrp="1"/>
          </p:cNvSpPr>
          <p:nvPr/>
        </p:nvSpPr>
        <p:spPr>
          <a:xfrm>
            <a:off x="619125" y="180975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32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LLMs can already access the Web. What do standards add?</a:t>
            </a:r>
          </a:p>
        </p:txBody>
      </p:sp>
      <p:sp>
        <p:nvSpPr>
          <p:cNvPr id="5" name="llm_heading">
            <a:extLst>
              <a:ext uri="{FF2B5EF4-FFF2-40B4-BE49-F238E27FC236}">
                <a16:creationId xmlns:a16="http://schemas.microsoft.com/office/drawing/2014/main" id="{7B4E3896-689D-4326-8AA4-2CE8EC1BEA6D}"/>
              </a:ext>
            </a:extLst>
          </p:cNvPr>
          <p:cNvSpPr>
            <a:spLocks noGrp="1"/>
          </p:cNvSpPr>
          <p:nvPr/>
        </p:nvSpPr>
        <p:spPr>
          <a:xfrm>
            <a:off x="619125" y="2667000"/>
            <a:ext cx="485775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From Inference</a:t>
            </a:r>
          </a:p>
        </p:txBody>
      </p:sp>
      <p:sp>
        <p:nvSpPr>
          <p:cNvPr id="6" name="common_heading">
            <a:extLst>
              <a:ext uri="{FF2B5EF4-FFF2-40B4-BE49-F238E27FC236}">
                <a16:creationId xmlns:a16="http://schemas.microsoft.com/office/drawing/2014/main" id="{E0328981-FE79-45E2-A3C5-15565B83040E}"/>
              </a:ext>
            </a:extLst>
          </p:cNvPr>
          <p:cNvSpPr>
            <a:spLocks noGrp="1"/>
          </p:cNvSpPr>
          <p:nvPr/>
        </p:nvSpPr>
        <p:spPr>
          <a:xfrm>
            <a:off x="6381750" y="2667000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defRPr>
            </a:pPr>
            <a:r>
              <a:rPr sz="2400" b="1">
                <a:solidFill>
                  <a:srgbClr val="005A9C"/>
                </a:solidFill>
                <a:latin typeface="Noto Sans"/>
                <a:ea typeface="Noto Sans"/>
                <a:cs typeface="Noto Sans"/>
              </a:rPr>
              <a:t>To Shared Conventions</a:t>
            </a:r>
          </a:p>
        </p:txBody>
      </p:sp>
      <p:sp>
        <p:nvSpPr>
          <p:cNvPr id="7" name="infer_0">
            <a:extLst>
              <a:ext uri="{FF2B5EF4-FFF2-40B4-BE49-F238E27FC236}">
                <a16:creationId xmlns:a16="http://schemas.microsoft.com/office/drawing/2014/main" id="{2764F438-7979-428B-87FA-CA8848CFA858}"/>
              </a:ext>
            </a:extLst>
          </p:cNvPr>
          <p:cNvSpPr>
            <a:spLocks noGrp="1"/>
          </p:cNvSpPr>
          <p:nvPr/>
        </p:nvSpPr>
        <p:spPr>
          <a:xfrm>
            <a:off x="619125" y="347662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Interpret what “Book” commits each party to</a:t>
            </a:r>
          </a:p>
        </p:txBody>
      </p:sp>
      <p:sp>
        <p:nvSpPr>
          <p:cNvPr id="8" name="agreement_0">
            <a:extLst>
              <a:ext uri="{FF2B5EF4-FFF2-40B4-BE49-F238E27FC236}">
                <a16:creationId xmlns:a16="http://schemas.microsoft.com/office/drawing/2014/main" id="{9D032C3B-901B-4ED5-BD71-E621B11F145E}"/>
              </a:ext>
            </a:extLst>
          </p:cNvPr>
          <p:cNvSpPr>
            <a:spLocks noGrp="1"/>
          </p:cNvSpPr>
          <p:nvPr/>
        </p:nvSpPr>
        <p:spPr>
          <a:xfrm>
            <a:off x="6381750" y="34766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Use shared definitions of reservation states and commitments</a:t>
            </a:r>
          </a:p>
        </p:txBody>
      </p:sp>
      <p:sp>
        <p:nvSpPr>
          <p:cNvPr id="9" name="infer_1">
            <a:extLst>
              <a:ext uri="{FF2B5EF4-FFF2-40B4-BE49-F238E27FC236}">
                <a16:creationId xmlns:a16="http://schemas.microsoft.com/office/drawing/2014/main" id="{CB998285-E15D-4A1E-A23A-8B18E689065E}"/>
              </a:ext>
            </a:extLst>
          </p:cNvPr>
          <p:cNvSpPr>
            <a:spLocks noGrp="1"/>
          </p:cNvSpPr>
          <p:nvPr/>
        </p:nvSpPr>
        <p:spPr>
          <a:xfrm>
            <a:off x="619125" y="421957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Enact local processes from descriptions</a:t>
            </a:r>
          </a:p>
        </p:txBody>
      </p:sp>
      <p:sp>
        <p:nvSpPr>
          <p:cNvPr id="10" name="agreement_1">
            <a:extLst>
              <a:ext uri="{FF2B5EF4-FFF2-40B4-BE49-F238E27FC236}">
                <a16:creationId xmlns:a16="http://schemas.microsoft.com/office/drawing/2014/main" id="{1FDB56F8-5636-403B-9225-735D562D1F4E}"/>
              </a:ext>
            </a:extLst>
          </p:cNvPr>
          <p:cNvSpPr>
            <a:spLocks noGrp="1"/>
          </p:cNvSpPr>
          <p:nvPr/>
        </p:nvSpPr>
        <p:spPr>
          <a:xfrm>
            <a:off x="6381750" y="421957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Represent requirements and interaction controls explicitly</a:t>
            </a:r>
          </a:p>
        </p:txBody>
      </p:sp>
      <p:sp>
        <p:nvSpPr>
          <p:cNvPr id="11" name="infer_2">
            <a:extLst>
              <a:ext uri="{FF2B5EF4-FFF2-40B4-BE49-F238E27FC236}">
                <a16:creationId xmlns:a16="http://schemas.microsoft.com/office/drawing/2014/main" id="{11ED5FA5-8220-4AD2-97E2-1259996109DE}"/>
              </a:ext>
            </a:extLst>
          </p:cNvPr>
          <p:cNvSpPr>
            <a:spLocks noGrp="1"/>
          </p:cNvSpPr>
          <p:nvPr/>
        </p:nvSpPr>
        <p:spPr>
          <a:xfrm>
            <a:off x="619125" y="4962525"/>
            <a:ext cx="48577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00000"/>
                </a:solidFill>
                <a:latin typeface="Noto Sans"/>
                <a:ea typeface="Noto Sans"/>
                <a:cs typeface="Noto Sans"/>
              </a:rPr>
              <a:t>Reconstruct ongoing work from conversations</a:t>
            </a:r>
          </a:p>
        </p:txBody>
      </p:sp>
      <p:sp>
        <p:nvSpPr>
          <p:cNvPr id="12" name="agreement_2">
            <a:extLst>
              <a:ext uri="{FF2B5EF4-FFF2-40B4-BE49-F238E27FC236}">
                <a16:creationId xmlns:a16="http://schemas.microsoft.com/office/drawing/2014/main" id="{0BF95563-CA8B-45B0-B4BE-FEB9C3F570A7}"/>
              </a:ext>
            </a:extLst>
          </p:cNvPr>
          <p:cNvSpPr>
            <a:spLocks noGrp="1"/>
          </p:cNvSpPr>
          <p:nvPr/>
        </p:nvSpPr>
        <p:spPr>
          <a:xfrm>
            <a:off x="6381750" y="4962525"/>
            <a:ext cx="5095875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Maintain shared references to current state and commitments</a:t>
            </a:r>
          </a:p>
        </p:txBody>
      </p:sp>
      <p:sp>
        <p:nvSpPr>
          <p:cNvPr id="13" name="standards_takeaway">
            <a:extLst>
              <a:ext uri="{FF2B5EF4-FFF2-40B4-BE49-F238E27FC236}">
                <a16:creationId xmlns:a16="http://schemas.microsoft.com/office/drawing/2014/main" id="{F10540E8-7030-45CC-B395-941ACB8B9C24}"/>
              </a:ext>
            </a:extLst>
          </p:cNvPr>
          <p:cNvSpPr>
            <a:spLocks noGrp="1"/>
          </p:cNvSpPr>
          <p:nvPr/>
        </p:nvSpPr>
        <p:spPr>
          <a:xfrm>
            <a:off x="619125" y="6096000"/>
            <a:ext cx="10953750" cy="571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100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Shared conventions reduce inference and bespoke integration across independently developed agent systems.</a:t>
            </a:r>
          </a:p>
        </p:txBody>
      </p:sp>
      <p:sp>
        <p:nvSpPr>
          <p:cNvPr id="14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4854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Building on an existing standards ecosystem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82F19C-9524-43AF-9496-F0D4A739FF02}"/>
              </a:ext>
            </a:extLst>
          </p:cNvPr>
          <p:cNvGraphicFramePr/>
          <p:nvPr/>
        </p:nvGraphicFramePr>
        <p:xfrm>
          <a:off x="619125" y="2095500"/>
          <a:ext cx="10953750" cy="3954780"/>
        </p:xfrm>
        <a:graphic>
          <a:graphicData uri="http://schemas.openxmlformats.org/drawingml/2006/table">
            <a:tbl>
              <a:tblPr/>
              <a:tblGrid>
                <a:gridCol w="2667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95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620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Role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Examples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005A9C"/>
                          </a:solidFill>
                          <a:latin typeface="Noto Sans"/>
                          <a:ea typeface="Noto Sans"/>
                          <a:cs typeface="Noto Sans"/>
                        </a:rPr>
                        <a:t>Contribution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>
                      <a:solidFill>
                        <a:srgbClr val="D3E3DC"/>
                      </a:solidFill>
                      <a:prstDash val="soli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  <a:solidFill>
                      <a:srgbClr val="D3E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Already used by MCP/A2A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OAuth; OpenID Connect; OpenAPI security schemes in A2A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Authorization, identity-provider discovery and security requirements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Additional environment descriptions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RDF/RDFS/OWL, JSON-LD, SHACL; WoT TD and Discovery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Shared models, validation, discovery and interaction descriptions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Policies, evidence and updates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ODRL, Verifiable Credentials, PROV, WebSub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Requirements and duties, verifiable claims, provenance and updates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Further non-W3C specifications</a:t>
                      </a:r>
                    </a:p>
                  </a:txBody>
                  <a:tcPr marL="114300" marR="114300" marT="76200" marB="76200" anchor="ctr">
                    <a:lnL w="9525">
                      <a:solidFill>
                        <a:srgbClr val="D3E3DC"/>
                      </a:solidFill>
                      <a:prstDash val="soli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OpenAPI / Arazzo</a:t>
                      </a:r>
                    </a:p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AsyncAPI / CloudEvents</a:t>
                      </a:r>
                    </a:p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XACML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API operations and workflows</a:t>
                      </a:r>
                    </a:p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Event channels and envelopes</a:t>
                      </a:r>
                    </a:p>
                    <a:p>
                      <a:r>
                        <a:rPr sz="1650">
                          <a:solidFill>
                            <a:srgbClr val="0D3020"/>
                          </a:solidFill>
                          <a:latin typeface="Noto Sans"/>
                          <a:ea typeface="Noto Sans"/>
                          <a:cs typeface="Noto Sans"/>
                        </a:rPr>
                        <a:t>Access-policy evaluation</a:t>
                      </a:r>
                    </a:p>
                  </a:txBody>
                  <a:tcPr marL="114300" marR="114300" marT="76200" marB="76200" anchor="ctr">
                    <a:lnL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>
                      <a:solidFill>
                        <a:srgbClr val="D3E3DC"/>
                      </a:solidFill>
                      <a:prstDash val="solid"/>
                    </a:lnR>
                    <a:lnT w="9525" cap="flat" cmpd="sng" algn="ctr">
                      <a:solidFill>
                        <a:srgbClr val="D3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>
                      <a:solidFill>
                        <a:srgbClr val="D3E3DC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akeaway">
            <a:extLst>
              <a:ext uri="{FF2B5EF4-FFF2-40B4-BE49-F238E27FC236}">
                <a16:creationId xmlns:a16="http://schemas.microsoft.com/office/drawing/2014/main" id="{F5D25DF2-3B06-459B-B2C9-2B2B2DF9106C}"/>
              </a:ext>
            </a:extLst>
          </p:cNvPr>
          <p:cNvSpPr>
            <a:spLocks noGrp="1"/>
          </p:cNvSpPr>
          <p:nvPr/>
        </p:nvSpPr>
        <p:spPr>
          <a:xfrm>
            <a:off x="619125" y="6191250"/>
            <a:ext cx="10953750" cy="619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Compose these foundations into coherent environments.</a:t>
            </a:r>
          </a:p>
          <a:p>
            <a:pPr algn="l">
              <a:def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187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Adopting a protocol does not establish the whole architecture.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347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_1">
            <a:extLst>
              <a:ext uri="{FF2B5EF4-FFF2-40B4-BE49-F238E27FC236}">
                <a16:creationId xmlns:a16="http://schemas.microsoft.com/office/drawing/2014/main" id="{779F0972-D44B-489D-A2B7-2254221123DB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 w="0">
            <a:noFill/>
          </a:ln>
        </p:spPr>
        <p:txBody>
          <a:bodyPr lIns="0" tIns="0" rIns="0" bIns="0" anchor="t"/>
          <a:lstStyle>
            <a:defPPr algn="l">
              <a:defRPr sz="4226" b="1">
                <a:solidFill>
                  <a:schemeClr val="accent1"/>
                </a:solidFill>
              </a:defRPr>
            </a:defPPr>
            <a:lvl1pPr algn="l">
              <a:buNone/>
              <a:defRPr sz="4226" b="1">
                <a:solidFill>
                  <a:schemeClr val="accent1"/>
                </a:solidFill>
              </a:defRPr>
            </a:lvl1pPr>
            <a:lvl2pPr algn="l">
              <a:buNone/>
              <a:defRPr sz="4226" b="1">
                <a:solidFill>
                  <a:schemeClr val="accent1"/>
                </a:solidFill>
              </a:defRPr>
            </a:lvl2pPr>
            <a:lvl3pPr algn="l">
              <a:buNone/>
              <a:defRPr sz="4226" b="1">
                <a:solidFill>
                  <a:schemeClr val="accent1"/>
                </a:solidFill>
              </a:defRPr>
            </a:lvl3pPr>
            <a:lvl4pPr algn="l">
              <a:buNone/>
              <a:defRPr sz="4226" b="1">
                <a:solidFill>
                  <a:schemeClr val="accent1"/>
                </a:solidFill>
              </a:defRPr>
            </a:lvl4pPr>
            <a:lvl5pPr algn="l">
              <a:buNone/>
              <a:defRPr sz="4226" b="1">
                <a:solidFill>
                  <a:schemeClr val="accent1"/>
                </a:solidFill>
              </a:defRPr>
            </a:lvl5pPr>
            <a:lvl6pPr algn="l">
              <a:buNone/>
              <a:defRPr sz="4226" b="1">
                <a:solidFill>
                  <a:schemeClr val="accent1"/>
                </a:solidFill>
              </a:defRPr>
            </a:lvl6pPr>
            <a:lvl7pPr algn="l">
              <a:buNone/>
              <a:defRPr sz="4226" b="1">
                <a:solidFill>
                  <a:schemeClr val="accent1"/>
                </a:solidFill>
              </a:defRPr>
            </a:lvl7pPr>
            <a:lvl8pPr algn="l">
              <a:buNone/>
              <a:defRPr sz="4226" b="1">
                <a:solidFill>
                  <a:schemeClr val="accent1"/>
                </a:solidFill>
              </a:defRPr>
            </a:lvl8pPr>
            <a:lvl9pPr algn="l">
              <a:buNone/>
              <a:defRPr sz="4226" b="1">
                <a:solidFill>
                  <a:schemeClr val="accent1"/>
                </a:solidFill>
              </a:defRPr>
            </a:lvl9pPr>
          </a:lstStyle>
          <a:p>
            <a:pPr algn="l">
              <a:buNone/>
              <a:defRPr sz="4226" b="1">
                <a:solidFill>
                  <a:schemeClr val="accent1"/>
                </a:solidFill>
              </a:defRPr>
            </a:pPr>
            <a:r>
              <a:rPr sz="4226" b="1">
                <a:solidFill>
                  <a:schemeClr val="accent1"/>
                </a:solidFill>
              </a:rPr>
              <a:t>The Web as a platform for agents</a:t>
            </a:r>
          </a:p>
        </p:txBody>
      </p:sp>
      <p:sp>
        <p:nvSpPr>
          <p:cNvPr id="4" name="report_contribution">
            <a:extLst>
              <a:ext uri="{FF2B5EF4-FFF2-40B4-BE49-F238E27FC236}">
                <a16:creationId xmlns:a16="http://schemas.microsoft.com/office/drawing/2014/main" id="{917B9716-9AB5-4537-86F8-C1CA5295DE33}"/>
              </a:ext>
            </a:extLst>
          </p:cNvPr>
          <p:cNvSpPr>
            <a:spLocks noGrp="1"/>
          </p:cNvSpPr>
          <p:nvPr/>
        </p:nvSpPr>
        <p:spPr>
          <a:xfrm>
            <a:off x="762000" y="2238375"/>
            <a:ext cx="10668000" cy="1714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775" b="0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775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The </a:t>
            </a:r>
            <a:r>
              <a:rPr lang="en-IE" sz="2775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Web</a:t>
            </a:r>
            <a:r>
              <a:rPr sz="2775" b="0" dirty="0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 helps us move from connecting agents to capabilities towards designing the shared environments in which they act.</a:t>
            </a:r>
          </a:p>
        </p:txBody>
      </p:sp>
      <p:sp>
        <p:nvSpPr>
          <p:cNvPr id="5" name="web_contribution">
            <a:extLst>
              <a:ext uri="{FF2B5EF4-FFF2-40B4-BE49-F238E27FC236}">
                <a16:creationId xmlns:a16="http://schemas.microsoft.com/office/drawing/2014/main" id="{639A48B3-740B-4907-9348-672ED45FD93E}"/>
              </a:ext>
            </a:extLst>
          </p:cNvPr>
          <p:cNvSpPr>
            <a:spLocks noGrp="1"/>
          </p:cNvSpPr>
          <p:nvPr/>
        </p:nvSpPr>
        <p:spPr>
          <a:xfrm>
            <a:off x="762000" y="4381500"/>
            <a:ext cx="10668000" cy="1428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defPPr>
            <a:lvl1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1pPr>
            <a:lvl2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2pPr>
            <a:lvl3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3pPr>
            <a:lvl4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4pPr>
            <a:lvl5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5pPr>
            <a:lvl6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6pPr>
            <a:lvl7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7pPr>
            <a:lvl8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8pPr>
            <a:lvl9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lvl9pPr>
          </a:lstStyle>
          <a:p>
            <a:pPr algn="l">
              <a:def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defRPr>
            </a:pPr>
            <a:r>
              <a:rPr sz="2775" b="1">
                <a:solidFill>
                  <a:srgbClr val="0D3020"/>
                </a:solidFill>
                <a:latin typeface="Noto Sans"/>
                <a:ea typeface="Noto Sans"/>
                <a:cs typeface="Noto Sans"/>
              </a:rPr>
              <a:t>Web architecture provides foundations for doing this across independent curators.</a:t>
            </a:r>
          </a:p>
        </p:txBody>
      </p:sp>
      <p:sp>
        <p:nvSpPr>
          <p:cNvPr id="6" name="Slide number"/>
          <p:cNvSpPr>
            <a:spLocks noGrp="1"/>
          </p:cNvSpPr>
          <p:nvPr>
            <p:ph type="sldNum" idx="90"/>
          </p:nvPr>
        </p:nvSpPr>
        <p:spPr>
          <a:xfrm>
            <a:off x="11172825" y="485775"/>
            <a:ext cx="428625" cy="428625"/>
          </a:xfrm>
          <a:prstGeom prst="ellipse">
            <a:avLst/>
          </a:prstGeom>
          <a:solidFill>
            <a:srgbClr val="555555"/>
          </a:solidFill>
          <a:ln>
            <a:noFill/>
          </a:ln>
        </p:spPr>
        <p:txBody>
          <a:bodyPr lIns="0" tIns="0" rIns="0" bIns="0" anchor="ctr"/>
          <a:lstStyle/>
          <a:p>
            <a:pPr algn="ctr"/>
            <a:fld id="{C8C132A9-93B1-4486-AF18-204BA7BC60A7}" type="slidenum">
              <a:rPr lang="en-US" sz="1875" b="1">
                <a:solidFill>
                  <a:srgbClr val="FAFAFA"/>
                </a:solidFill>
                <a:latin typeface="+mn-lt"/>
              </a:rPr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84970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W3C TPAC 2026">
      <a:dk1>
        <a:srgbClr val="000000"/>
      </a:dk1>
      <a:lt1>
        <a:srgbClr val="FAFAFA"/>
      </a:lt1>
      <a:dk2>
        <a:srgbClr val="0D3020"/>
      </a:dk2>
      <a:lt2>
        <a:srgbClr val="D3E3DC"/>
      </a:lt2>
      <a:accent1>
        <a:srgbClr val="006A9C"/>
      </a:accent1>
      <a:accent2>
        <a:srgbClr val="005A9C"/>
      </a:accent2>
      <a:accent3>
        <a:srgbClr val="0D3020"/>
      </a:accent3>
      <a:accent4>
        <a:srgbClr val="78D7AE"/>
      </a:accent4>
      <a:accent5>
        <a:srgbClr val="E53417"/>
      </a:accent5>
      <a:accent6>
        <a:srgbClr val="E6EFBF"/>
      </a:accent6>
      <a:hlink>
        <a:srgbClr val="0000CC"/>
      </a:hlink>
      <a:folHlink>
        <a:srgbClr val="660099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W3C TPAC 2026">
      <a:dk1>
        <a:srgbClr val="000000"/>
      </a:dk1>
      <a:lt1>
        <a:srgbClr val="FAFAFA"/>
      </a:lt1>
      <a:dk2>
        <a:srgbClr val="0D3020"/>
      </a:dk2>
      <a:lt2>
        <a:srgbClr val="D3E3DC"/>
      </a:lt2>
      <a:accent1>
        <a:srgbClr val="006A9C"/>
      </a:accent1>
      <a:accent2>
        <a:srgbClr val="005A9C"/>
      </a:accent2>
      <a:accent3>
        <a:srgbClr val="0D3020"/>
      </a:accent3>
      <a:accent4>
        <a:srgbClr val="78D7AE"/>
      </a:accent4>
      <a:accent5>
        <a:srgbClr val="E53417"/>
      </a:accent5>
      <a:accent6>
        <a:srgbClr val="E6EFBF"/>
      </a:accent6>
      <a:hlink>
        <a:srgbClr val="0000CC"/>
      </a:hlink>
      <a:folHlink>
        <a:srgbClr val="660099"/>
      </a:folHlink>
    </a:clrScheme>
    <a:fontScheme name="">
      <a:majorFont>
        <a:latin typeface="Noto Sans"/>
        <a:ea typeface=""/>
        <a:cs typeface=""/>
      </a:majorFont>
      <a:minorFont>
        <a:latin typeface="Noto Sans"/>
        <a:ea typeface=""/>
        <a:cs typeface=""/>
      </a:minorFont>
    </a:fontScheme>
    <a:fmtScheme name="W3C TPAC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1554</TotalTime>
  <Words>1700</Words>
  <Application>Microsoft Macintosh PowerPoint</Application>
  <DocSecurity>0</DocSecurity>
  <PresentationFormat>Widescreen</PresentationFormat>
  <Paragraphs>294</Paragraphs>
  <Slides>25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0" baseType="lpstr">
      <vt:lpstr>Arial</vt:lpstr>
      <vt:lpstr>Lato</vt:lpstr>
      <vt:lpstr>Montserrat Black</vt:lpstr>
      <vt:lpstr>Noto Sans</vt:lpstr>
      <vt:lpstr>ChatGPT</vt:lpstr>
      <vt:lpstr>W3C Agents on The Web (WebAgents) CG The Web as a Platform for Agents</vt:lpstr>
      <vt:lpstr>Interoperability Report </vt:lpstr>
      <vt:lpstr>A Layered View of Multi-Agent Systems</vt:lpstr>
      <vt:lpstr>Web Agent Design Goals: Agent Level</vt:lpstr>
      <vt:lpstr>Web Agent Design Goals: System Level</vt:lpstr>
      <vt:lpstr>Architectural Patterns for MAS</vt:lpstr>
      <vt:lpstr>Architectural Patterns for MAS</vt:lpstr>
      <vt:lpstr>Architectural Patterns for MAS</vt:lpstr>
      <vt:lpstr>Open vs Controlled Environments</vt:lpstr>
      <vt:lpstr>A laboratory task</vt:lpstr>
      <vt:lpstr>The MCP/A2A laboratory</vt:lpstr>
      <vt:lpstr>How MCP and A2A support the laboratory</vt:lpstr>
      <vt:lpstr>How Open is this?</vt:lpstr>
      <vt:lpstr>Describing interaction with WoT</vt:lpstr>
      <vt:lpstr>Resources combine state and controls</vt:lpstr>
      <vt:lpstr>The Web/hypermedia laboratory</vt:lpstr>
      <vt:lpstr>How the Web supports the laboratory</vt:lpstr>
      <vt:lpstr>Working with an unfamiliar laboratory</vt:lpstr>
      <vt:lpstr>When ongoing work changes</vt:lpstr>
      <vt:lpstr>When ongoing work changes</vt:lpstr>
      <vt:lpstr>When ongoing work changes</vt:lpstr>
      <vt:lpstr>How the Web support the design goals</vt:lpstr>
      <vt:lpstr>Why standards matter</vt:lpstr>
      <vt:lpstr>Building on an existing standards ecosystem</vt:lpstr>
      <vt:lpstr>The Web as a platform for agents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Rem Collier</cp:lastModifiedBy>
  <cp:revision>58</cp:revision>
  <cp:lastPrinted>2026-10-26T07:27:20Z</cp:lastPrinted>
  <dcterms:created xsi:type="dcterms:W3CDTF">2026-10-24T14:34:41Z</dcterms:created>
  <dcterms:modified xsi:type="dcterms:W3CDTF">2026-10-26T10:35:15Z</dcterms:modified>
</cp:coreProperties>
</file>